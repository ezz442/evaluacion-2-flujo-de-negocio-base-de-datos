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Chakra Petch" charset="0"/>
      <p:regular r:id="rId16"/>
      <p:bold r:id="rId17"/>
    </p:embeddedFont>
    <p:embeddedFont>
      <p:font typeface="DM Sans" pitchFamily="2" charset="0"/>
      <p:regular r:id="rId18"/>
      <p:bold r:id="rId19"/>
    </p:embeddedFont>
    <p:embeddedFont>
      <p:font typeface="JetBrains Mono" panose="02000009000000000000" pitchFamily="49"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3.fntdata" /><Relationship Id="rId3" Type="http://schemas.openxmlformats.org/officeDocument/2006/relationships/slide" Target="slides/slide2.xml" /><Relationship Id="rId21" Type="http://schemas.openxmlformats.org/officeDocument/2006/relationships/font" Target="fonts/font6.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2.fntdata"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font" Target="fonts/font1.fntdata" /><Relationship Id="rId20" Type="http://schemas.openxmlformats.org/officeDocument/2006/relationships/font" Target="fonts/font5.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notesMaster" Target="notesMasters/notesMaster1.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font" Target="fonts/font4.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876440C-12B7-9E41-AC22-EBFB1A05063F}" type="datetimeFigureOut">
              <a:rPr lang="es-CL" smtClean="0"/>
              <a:t>27-10-2026</a:t>
            </a:fld>
            <a:endParaRPr lang="es-CL"/>
          </a:p>
        </p:txBody>
      </p:sp>
      <p:sp>
        <p:nvSpPr>
          <p:cNvPr id="4" name="Marcador de imagen d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51EEB63-5207-3C49-8F80-7308888432C2}" type="slidenum">
              <a:rPr lang="es-CL" smtClean="0"/>
              <a:t>‹Nº›</a:t>
            </a:fld>
            <a:endParaRPr lang="es-CL"/>
          </a:p>
        </p:txBody>
      </p:sp>
    </p:spTree>
    <p:extLst>
      <p:ext uri="{BB962C8B-B14F-4D97-AF65-F5344CB8AC3E}">
        <p14:creationId xmlns:p14="http://schemas.microsoft.com/office/powerpoint/2010/main" val="2832967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LENZ Games, nuestra tienda de videojuegos. En la Parte 1 trabajamos con bloques anónimos; en esta Parte 2 la lógica quedó guardada en la base de datos como procedimientos, funciones, packages y triggers, y cubre el ciclo completo del negocio: vender, alertar, reponer y volver a vender, con control y auditoría en todo momento.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tienda vende juegos físicos y necesita controlar cuánto vende y cuánto le queda en bodega. Sin control pasan tres cosas: los juegos más vendidos se agotan sin que nadie se entere (Isla Perdida tiene 2 copias y su mínimo es 5); una venta mal hecha no se puede corregir sin descuadrar el stock; y no queda registro de quién cambió qué. La solución es el ciclo del diagrama: el cliente compra, el vendedor registra o anula la venta con pkg_ventas, la base de datos valida, descuenta el stock, audita y abre alertas sola con sus triggers, y al final del día el encargado ejecuta el cierre, recibe la sugerencia de compra y repone. Al reponer la alerta se cierra sola y el ciclo sigue.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tiene 14 tablas: las 5 de la Parte 1 para operar la tienda y 9 nuevas para controlarla. Está en tercera forma normal, y eso significa tres cosas simples. Primero, cada dato se guarda en un solo lugar: por ejemplo, el precio vive solo en precio_videojuego y no se repite en otras tablas. Segundo, lo que se puede calcular no se guarda: el total de una venta no es una columna, se suma desde su detalle. Tercero, como no hay datos repetidos, no pueden contradecirse: si cambia un precio, cambia en un solo sitio. El análisis tabla por tabla de 1FN, 2FN y 3FN está en el anexo del informe.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flujo: el catálogo y los clientes. Cuando llega un juego nuevo, pkg_catalogo.agregar_videojuego lo registra con su precio de lista; como entra con stock cero, el trigger trg_alerta_reposicion abre su alerta automáticamente. Cuando el encargado cambia un precio con actualizar_precio, el trigger trg_historial_precio guarda el precio anterior, el nuevo y quién lo cambió: en la demo, Isla Perdida pasa de 30.000 a 32.000. Con pr_actualizar_stock_minimo se ajusta el mínimo de toda una categoría de una vez. Los clientes se registran con registrar_cliente, y pr_reporte_clientes, usando la función fn_total_compras_cliente, muestra cuánto compra cada uno. Uso procedimientos para las acciones, triggers para que el registro no dependa de nadie y una función para el cálculo, que también se puede usar en un SELECT. Usamos pr_actualizar_stock_minimo con parámetros IN y OUT: por los IN recibe la categoría y el nuevo mínimo, y actualiza todos los juegos de esa categoría en una sola sentencia, que es procesamiento masivo; por el OUT devuelve cuántos juegos cambió, así quien lo llama puede confirmar que se aplicó, o detectar que la categoría no tenía juegos.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flujo: la venta, que es el corazón de la tienda. El cliente elige un juego y el vendedor ejecuta pkg_ventas.vender. Lo primero que hace es pedirle a la función fn_precio_videojuego el precio de lista, así nadie escribe el precio a mano. Luego llama a pr_registrar_venta, del package de la Parte 1, que valida los datos, bloquea el juego para que dos ventas no descuenten el mismo stock y baja las unidades. Ese cambio activa solos dos triggers: uno guarda el stock de antes y de después, y otro abre una alerta si el juego quedó bajo su mínimo. Al guardar la venta, otro trigger revisa que la fecha no sea futura y, al terminar, uno de sentencia audita la operación. Si el cliente lleva otro juego, agregar_producto lo suma a la misma venta. En la demo: 25.000 más 35.000, total 60.000. La diferencia entre los triggers: los de fila, como trg_auditoria_stock y trg_alerta_reposicion, se disparan una vez por cada juego que cambia y pueden ver el valor de antes y de después con :OLD y :NEW; por eso sirven para auditar o alertar juego por juego. El de sentencia, trg_venta_sentencia, se dispara una sola vez por operación aunque se modifiquen varias filas; por eso sirve para registrar la operación completa. En la demo, al modificar dos filas, el de sentencia deja un registro y el de fila deja 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flujo: corregir un error sin descuadrar la bodega. El vendedor ejecuta pkg_ventas.anular_venta con el motivo. Primero la función total_venta calcula cuánto se devuelve. Luego cada juego vuelve al stock, y el trigger de auditoría deja registrado ese cambio. Se guarda un respaldo de la venta y sus productos con el motivo. Para poder borrar la venta, el package activa su variable privada g_anulando; al borrar, el trigger trg_venta_bloquear_borrado revisa ese permiso y deja pasar. Por último, el trigger de sentencia registra quién anuló y cuándo. A la derecha se ve la diferencia: anulando, se devuelven 60.000 y el stock vuelve a 8 y 10; si alguien intenta borrar una venta directamente, el trigger lo bloquea con ORA-20020, porque esa variable privada solo la puede cambiar el package.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flujo: el inventario se vigila solo. Cuando una venta deja un juego bajo su mínimo, el trigger trg_alerta_reposicion abre una alerta sin que nadie lo pida. El encargado ejecuta sugerir_reposicion, que usa dos funciones: fn_alertas_pendientes cuenta cuántos juegos esperan reposición y fn_cantidad_sugerida calcula cuánto comprar de cada uno, hasta el doble del mínimo. En la demo hay 3 alertas y la sugerencia es comprar 8, 7 y 6. Cuando llega la mercadería, reponer_stock la ingresa: Isla Perdida pasa de 2 a 10. Como el stock volvió a superar el mínimo, el mismo trigger cierra la alerta solo, y el trigger de auditoría deja registrado el ingreso. Las alertas pendientes bajan de 3 a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flujo: el cierre del día. El encargado ejecuta una sola llamada, pkg_inventario.cierre_inventario, y todo lo demás ocurre en cadena. Primero pr_generar_resumen_ventas recorre todo el catálogo y, para cada juego, la función fn_unidades_vendidas cuenta sus unidades. Al mostrar el resumen, la función estado_producto marca cada juego como normal, stock bajo o agotado, fn_total_ventas entrega el total vendido y una función privada del package calcula cuánto aporta cada juego. El cierre termina entregando la lista de compra con sugerir_reposicion. En la demo: 185.000 en total, Isla Perdida aporta el 48,6 % y hay que comprar 3 unidades de Futbol Total.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del procedimiento más importante del negocio: vender. En la captura se ve la venta registrada a precio de lista: Mundo Lunar por 25.000 y Carrera Urbana por 35.000 agregada a la misma venta, 60.000 en total. El stock de los dos juegos bajó solo, y antes de vender se validaron el cliente, la cantidad y el stock. Ojo: vender es un procedimiento, pero está guardado dentro del package pkg_ventas. Lo pusimos ahí para agrupar todo lo de ventas en un solo lugar y para que use las validaciones privadas del package, como validar_cantidad, que nadie puede llamar desde fuera.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de las funciones. En la tienda, esta función trabaja en el cierre del día: cuenta cuántas copias vendió cada juego, y con ese número se arma el resumen, se calcula cuánto aporta cada juego y se decide cuánto reponer. Antes no se sabía qué juego vendía más; ahora se ve en una sola consulta. fn_unidades_vendidas recibe un parámetro, el id del juego, y devuelve sus unidades vendidas. La misma función se usa en dos lugares: en una sentencia SQL, dentro de este SELECT sobre videojuego, donde se ejecuta una vez por cada juego y entrega sus unidades vendidas, por ejemplo 3 de Isla Perdida y 5 de Mundo Lunar; y en un programa PL/SQL, porque pr_generar_resumen_ventas la llama por cada juego que recorre su cursor durante el cierre del día. Así el cálculo se escribe una sola vez y siempre da el mismo resultado. En el mismo SELECT, estado_producto del package marca cada juego como normal o con stock bajo. Y fn_total_ventas es el ejemplo sin parámetros: devuelve el total vendido de la tienda.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del package: anular_venta de pkg_ventas. En la captura se ve que la venta se anula, se devuelven los 60.000 y el stock de cada juego vuelve a su valor, con el respaldo guardado. Por dentro, el package usa su variable privada g_anulando para poder borrar la venta. Por eso, cuando alguien intenta borrar una venta directamente con DELETE, el trigger lo bloquea con el error ORA-20020: solo el package puede autorizar ese borrado.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del trigger: trg_alerta_reposicion, de nivel de fila y AFTER. En la captura se ve el bloque que repone Isla Perdida con la cantidad sugerida: antes había 4 alertas pendientes, se registró la reposición de 8 unidades y quedaron 2. Nadie cerró las alertas a mano: al subir el stock sobre el mínimo, el trigger las cerró solo. Si el profe pregunta por la diferencia entre sentencia y fila: el de fila se ejecuta una vez por cada fila que cambia, el de sentencia una sola vez por operación.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proyecto pasó de scripts manuales a un ciclo completo dentro de la base de datos. LENZ Games vende sin errores, corrige sin descuadrar la bodega, avisa cuando hay que reponer y cierra el día en un solo paso. El resultado es que en LENZ Games ningún juego se queda sin stock sin que la tienda lo sepa, los errores se corrigen sin descuadrar la bodega y todo queda registrado. Como mejoras propongo cuatro: programar el cierre para que corra solo cada noche con DBMS_SCHEDULER; agregar proveedores para que la sugerencia de compra genere directamente la orden; permitir devoluciones parciales, anulando un solo juego de la venta; y dar permisos por rol, para que el vendedor solo pueda ejecutar pkg_ventas sin tocar las tablas.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D123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EEF2FF"/>
                </a:solidFill>
                <a:latin typeface="Chakra Petch" pitchFamily="34" charset="0"/>
                <a:ea typeface="Chakra Petch" pitchFamily="34" charset="-122"/>
                <a:cs typeface="Chakra Petch"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65821"/>
            <a:ext cx="10566400" cy="4079379"/>
          </a:xfrm>
          <a:prstGeom prst="rect">
            <a:avLst/>
          </a:prstGeom>
          <a:noFill/>
          <a:ln/>
        </p:spPr>
        <p:txBody>
          <a:bodyPr wrap="square" lIns="0" tIns="0" rIns="0" bIns="0" rtlCol="0" anchor="t"/>
          <a:lstStyle>
            <a:lvl1pPr marL="0" indent="0" algn="l">
              <a:lnSpc>
                <a:spcPct val="140000"/>
              </a:lnSpc>
              <a:buNone/>
              <a:defRPr lang="en-US" sz="1600" dirty="0">
                <a:solidFill>
                  <a:srgbClr val="EEF2FF"/>
                </a:solidFill>
                <a:latin typeface="Chakra Petch" pitchFamily="34" charset="0"/>
                <a:ea typeface="Chakra Petch" pitchFamily="34" charset="-122"/>
                <a:cs typeface="Chakra Petch"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EEF2FF"/>
                </a:solidFill>
                <a:latin typeface="Chakra Petch" pitchFamily="34" charset="0"/>
                <a:ea typeface="Chakra Petch" pitchFamily="34" charset="-122"/>
                <a:cs typeface="Chakra Petch"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65821"/>
            <a:ext cx="10566400" cy="4079379"/>
          </a:xfrm>
          <a:prstGeom prst="rect">
            <a:avLst/>
          </a:prstGeom>
          <a:noFill/>
          <a:ln/>
        </p:spPr>
        <p:txBody>
          <a:bodyPr wrap="square" lIns="0" tIns="0" rIns="0" bIns="0" rtlCol="0" anchor="t"/>
          <a:lstStyle>
            <a:lvl1pPr marL="0" indent="0" algn="l">
              <a:lnSpc>
                <a:spcPct val="140000"/>
              </a:lnSpc>
              <a:buNone/>
              <a:defRPr lang="en-US" sz="1600" dirty="0">
                <a:solidFill>
                  <a:srgbClr val="EEF2FF"/>
                </a:solidFill>
                <a:latin typeface="Chakra Petch" pitchFamily="34" charset="0"/>
                <a:ea typeface="Chakra Petch" pitchFamily="34" charset="-122"/>
                <a:cs typeface="Chakra Petch"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23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EEF2FF"/>
                </a:solidFill>
                <a:latin typeface="Chakra Petch" pitchFamily="34" charset="0"/>
                <a:ea typeface="Chakra Petch" pitchFamily="34" charset="-122"/>
                <a:cs typeface="Chakra Petch"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65821"/>
            <a:ext cx="10566400" cy="4079379"/>
          </a:xfrm>
          <a:prstGeom prst="rect">
            <a:avLst/>
          </a:prstGeom>
          <a:noFill/>
          <a:ln/>
        </p:spPr>
        <p:txBody>
          <a:bodyPr wrap="square" lIns="0" tIns="0" rIns="0" bIns="0" rtlCol="0" anchor="t"/>
          <a:lstStyle>
            <a:lvl1pPr marL="0" indent="0" algn="l">
              <a:lnSpc>
                <a:spcPct val="140000"/>
              </a:lnSpc>
              <a:buNone/>
              <a:defRPr lang="en-US" sz="1600" dirty="0">
                <a:solidFill>
                  <a:srgbClr val="EEF2FF"/>
                </a:solidFill>
                <a:latin typeface="Chakra Petch" pitchFamily="34" charset="0"/>
                <a:ea typeface="Chakra Petch" pitchFamily="34" charset="-122"/>
                <a:cs typeface="Chakra Petch"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1300" y="1600200"/>
            <a:ext cx="2641600" cy="3276600"/>
          </a:xfrm>
          <a:prstGeom prst="roundRect">
            <a:avLst>
              <a:gd name="adj" fmla="val 7212"/>
            </a:avLst>
          </a:prstGeom>
          <a:solidFill>
            <a:srgbClr val="141A40"/>
          </a:solidFill>
          <a:ln w="25400">
            <a:solidFill>
              <a:srgbClr val="3FE0EA"/>
            </a:solidFill>
            <a:prstDash val="solid"/>
          </a:ln>
          <a:effectLst>
            <a:outerShdw blurRad="508000" dir="60000" algn="bl" rotWithShape="0">
              <a:srgbClr val="3FE0EA">
                <a:alpha val="35000"/>
              </a:srgbClr>
            </a:outerShdw>
          </a:effectLst>
        </p:spPr>
      </p:sp>
      <p:sp>
        <p:nvSpPr>
          <p:cNvPr id="3" name="Shape 1"/>
          <p:cNvSpPr/>
          <p:nvPr/>
        </p:nvSpPr>
        <p:spPr>
          <a:xfrm>
            <a:off x="8229600" y="1968500"/>
            <a:ext cx="1905000" cy="1587500"/>
          </a:xfrm>
          <a:prstGeom prst="roundRect">
            <a:avLst>
              <a:gd name="adj" fmla="val 6400"/>
            </a:avLst>
          </a:prstGeom>
          <a:gradFill rotWithShape="1">
            <a:gsLst>
              <a:gs pos="0">
                <a:srgbClr val="3FE0EA"/>
              </a:gs>
              <a:gs pos="100000">
                <a:srgbClr val="FF6FAE"/>
              </a:gs>
            </a:gsLst>
            <a:lin ang="2700000" scaled="0"/>
          </a:gradFill>
          <a:ln/>
        </p:spPr>
      </p:sp>
      <p:sp>
        <p:nvSpPr>
          <p:cNvPr id="4" name="Text 2"/>
          <p:cNvSpPr/>
          <p:nvPr/>
        </p:nvSpPr>
        <p:spPr>
          <a:xfrm>
            <a:off x="8201025" y="2476500"/>
            <a:ext cx="1962150" cy="665460"/>
          </a:xfrm>
          <a:prstGeom prst="rect">
            <a:avLst/>
          </a:prstGeom>
          <a:noFill/>
          <a:ln/>
        </p:spPr>
        <p:txBody>
          <a:bodyPr wrap="square" lIns="0" tIns="0" rIns="0" bIns="0" rtlCol="0" anchor="t">
            <a:normAutofit/>
          </a:bodyPr>
          <a:lstStyle/>
          <a:p>
            <a:pPr marL="0" indent="0" algn="ctr">
              <a:lnSpc>
                <a:spcPts val="5040"/>
              </a:lnSpc>
              <a:buNone/>
            </a:pPr>
            <a:r>
              <a:rPr lang="en-US" sz="3600" b="1" dirty="0">
                <a:solidFill>
                  <a:srgbClr val="0D1230"/>
                </a:solidFill>
                <a:latin typeface="Chakra Petch" pitchFamily="34" charset="0"/>
                <a:ea typeface="Chakra Petch" pitchFamily="34" charset="-122"/>
                <a:cs typeface="Chakra Petch" pitchFamily="34" charset="-120"/>
              </a:rPr>
              <a:t>PL/SQL</a:t>
            </a:r>
            <a:endParaRPr lang="en-US" sz="3600" dirty="0"/>
          </a:p>
        </p:txBody>
      </p:sp>
      <p:sp>
        <p:nvSpPr>
          <p:cNvPr id="5" name="Shape 3"/>
          <p:cNvSpPr/>
          <p:nvPr/>
        </p:nvSpPr>
        <p:spPr>
          <a:xfrm>
            <a:off x="8229600" y="3810000"/>
            <a:ext cx="1905000" cy="127000"/>
          </a:xfrm>
          <a:prstGeom prst="roundRect">
            <a:avLst>
              <a:gd name="adj" fmla="val 50000"/>
            </a:avLst>
          </a:prstGeom>
          <a:solidFill>
            <a:srgbClr val="2B3672"/>
          </a:solidFill>
          <a:ln/>
        </p:spPr>
      </p:sp>
      <p:sp>
        <p:nvSpPr>
          <p:cNvPr id="6" name="Shape 4"/>
          <p:cNvSpPr/>
          <p:nvPr/>
        </p:nvSpPr>
        <p:spPr>
          <a:xfrm>
            <a:off x="8229600" y="4064000"/>
            <a:ext cx="1270000" cy="127000"/>
          </a:xfrm>
          <a:prstGeom prst="roundRect">
            <a:avLst>
              <a:gd name="adj" fmla="val 50000"/>
            </a:avLst>
          </a:prstGeom>
          <a:solidFill>
            <a:srgbClr val="2B3672"/>
          </a:solidFill>
          <a:ln/>
        </p:spPr>
      </p:sp>
      <p:sp>
        <p:nvSpPr>
          <p:cNvPr id="7" name="Shape 5"/>
          <p:cNvSpPr/>
          <p:nvPr/>
        </p:nvSpPr>
        <p:spPr>
          <a:xfrm>
            <a:off x="8229600" y="4381500"/>
            <a:ext cx="1905000" cy="279400"/>
          </a:xfrm>
          <a:prstGeom prst="roundRect">
            <a:avLst>
              <a:gd name="adj" fmla="val 13636"/>
            </a:avLst>
          </a:prstGeom>
          <a:gradFill rotWithShape="1">
            <a:gsLst>
              <a:gs pos="0">
                <a:srgbClr val="3FE0EA">
                  <a:alpha val="70000"/>
                </a:srgbClr>
              </a:gs>
              <a:gs pos="60000">
                <a:srgbClr val="3FE0EA">
                  <a:alpha val="70000"/>
                </a:srgbClr>
              </a:gs>
              <a:gs pos="60000">
                <a:srgbClr val="141A40">
                  <a:alpha val="70000"/>
                </a:srgbClr>
              </a:gs>
              <a:gs pos="100000">
                <a:srgbClr val="141A40">
                  <a:alpha val="70000"/>
                </a:srgbClr>
              </a:gs>
            </a:gsLst>
            <a:lin ang="0" scaled="0"/>
          </a:gradFill>
          <a:ln/>
        </p:spPr>
      </p:sp>
      <p:sp>
        <p:nvSpPr>
          <p:cNvPr id="8" name="Text 6"/>
          <p:cNvSpPr/>
          <p:nvPr/>
        </p:nvSpPr>
        <p:spPr>
          <a:xfrm>
            <a:off x="812800" y="1342529"/>
            <a:ext cx="1279823" cy="548580"/>
          </a:xfrm>
          <a:prstGeom prst="roundRect">
            <a:avLst>
              <a:gd name="adj" fmla="val 13890"/>
            </a:avLst>
          </a:prstGeom>
          <a:gradFill rotWithShape="1">
            <a:gsLst>
              <a:gs pos="0">
                <a:srgbClr val="3FE0EA"/>
              </a:gs>
              <a:gs pos="100000">
                <a:srgbClr val="FF6FAE"/>
              </a:gs>
            </a:gsLst>
            <a:lin ang="2700000" scaled="0"/>
          </a:gradFill>
          <a:ln/>
        </p:spPr>
        <p:txBody>
          <a:bodyPr wrap="none" lIns="0" tIns="0" rIns="0" bIns="0" rtlCol="0" anchor="ctr">
            <a:normAutofit/>
          </a:bodyPr>
          <a:lstStyle/>
          <a:p>
            <a:pPr marL="0" indent="0" algn="ctr">
              <a:lnSpc>
                <a:spcPts val="3920"/>
              </a:lnSpc>
              <a:buNone/>
            </a:pPr>
            <a:r>
              <a:rPr lang="en-US" sz="2800" b="1" kern="0" spc="200" dirty="0">
                <a:solidFill>
                  <a:srgbClr val="0D1230"/>
                </a:solidFill>
                <a:latin typeface="Chakra Petch" pitchFamily="34" charset="0"/>
                <a:ea typeface="Chakra Petch" pitchFamily="34" charset="-122"/>
                <a:cs typeface="Chakra Petch" pitchFamily="34" charset="-120"/>
              </a:rPr>
              <a:t>LENZ</a:t>
            </a:r>
            <a:endParaRPr lang="en-US" sz="2800" dirty="0"/>
          </a:p>
        </p:txBody>
      </p:sp>
      <p:sp>
        <p:nvSpPr>
          <p:cNvPr id="9" name="Text 7"/>
          <p:cNvSpPr/>
          <p:nvPr/>
        </p:nvSpPr>
        <p:spPr>
          <a:xfrm>
            <a:off x="2245023" y="1367929"/>
            <a:ext cx="1584484" cy="523180"/>
          </a:xfrm>
          <a:prstGeom prst="rect">
            <a:avLst/>
          </a:prstGeom>
          <a:noFill/>
          <a:ln/>
        </p:spPr>
        <p:txBody>
          <a:bodyPr wrap="square" lIns="0" tIns="0" rIns="0" bIns="0" rtlCol="0" anchor="t">
            <a:normAutofit/>
          </a:bodyPr>
          <a:lstStyle/>
          <a:p>
            <a:pPr marL="0" indent="0" algn="l">
              <a:lnSpc>
                <a:spcPts val="3920"/>
              </a:lnSpc>
              <a:buNone/>
            </a:pPr>
            <a:r>
              <a:rPr lang="en-US" sz="2800" b="1" kern="0" spc="200" dirty="0">
                <a:solidFill>
                  <a:srgbClr val="EEF2FF"/>
                </a:solidFill>
                <a:latin typeface="Chakra Petch" pitchFamily="34" charset="0"/>
                <a:ea typeface="Chakra Petch" pitchFamily="34" charset="-122"/>
                <a:cs typeface="Chakra Petch" pitchFamily="34" charset="-120"/>
              </a:rPr>
              <a:t>GAMES</a:t>
            </a:r>
            <a:endParaRPr lang="en-US" sz="2800" dirty="0"/>
          </a:p>
        </p:txBody>
      </p:sp>
      <p:sp>
        <p:nvSpPr>
          <p:cNvPr id="10" name="Text 8"/>
          <p:cNvSpPr/>
          <p:nvPr/>
        </p:nvSpPr>
        <p:spPr>
          <a:xfrm>
            <a:off x="812800" y="209430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3FE0EA"/>
                </a:solidFill>
                <a:latin typeface="Chakra Petch" pitchFamily="34" charset="0"/>
                <a:ea typeface="Chakra Petch" pitchFamily="34" charset="-122"/>
                <a:cs typeface="Chakra Petch" pitchFamily="34" charset="-120"/>
              </a:rPr>
              <a:t>EVALUACIÓN PARCIAL 2 · BDY1103</a:t>
            </a:r>
            <a:endParaRPr lang="en-US" sz="1500" dirty="0"/>
          </a:p>
        </p:txBody>
      </p:sp>
      <p:sp>
        <p:nvSpPr>
          <p:cNvPr id="11" name="Text 9"/>
          <p:cNvSpPr>
            <a:spLocks noGrp="1"/>
          </p:cNvSpPr>
          <p:nvPr>
            <p:ph type="title"/>
          </p:nvPr>
        </p:nvSpPr>
        <p:spPr>
          <a:xfrm>
            <a:off x="812800" y="2564209"/>
            <a:ext cx="6932930"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EEF2FF"/>
                </a:solidFill>
                <a:latin typeface="Chakra Petch" pitchFamily="34" charset="0"/>
                <a:ea typeface="Chakra Petch" pitchFamily="34" charset="-122"/>
                <a:cs typeface="Chakra Petch" pitchFamily="34" charset="-120"/>
              </a:rPr>
              <a:t>Ningún juego se queda sin stock</a:t>
            </a:r>
            <a:endParaRPr lang="en-US" sz="5200" dirty="0"/>
          </a:p>
        </p:txBody>
      </p:sp>
      <p:sp>
        <p:nvSpPr>
          <p:cNvPr id="12" name="Text 10"/>
          <p:cNvSpPr/>
          <p:nvPr/>
        </p:nvSpPr>
        <p:spPr>
          <a:xfrm>
            <a:off x="812800" y="4154091"/>
            <a:ext cx="627888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8C2E8"/>
                </a:solidFill>
                <a:latin typeface="DM Sans" pitchFamily="34" charset="0"/>
                <a:ea typeface="DM Sans" pitchFamily="34" charset="-122"/>
                <a:cs typeface="DM Sans" pitchFamily="34" charset="-120"/>
              </a:rPr>
              <a:t>Tienda de videojuegos: ventas, inventario y auditoría con procedimientos, funciones, packages y triggers.</a:t>
            </a:r>
            <a:endParaRPr lang="en-US" sz="1800" dirty="0"/>
          </a:p>
        </p:txBody>
      </p:sp>
      <p:sp>
        <p:nvSpPr>
          <p:cNvPr id="13" name="Text 11"/>
          <p:cNvSpPr/>
          <p:nvPr/>
        </p:nvSpPr>
        <p:spPr>
          <a:xfrm>
            <a:off x="812800" y="4997252"/>
            <a:ext cx="1325265" cy="314920"/>
          </a:xfrm>
          <a:prstGeom prst="roundRect">
            <a:avLst>
              <a:gd name="adj" fmla="val 16131"/>
            </a:avLst>
          </a:pr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ORACLE 21c XE</a:t>
            </a:r>
            <a:endParaRPr lang="en-US" sz="1200" dirty="0"/>
          </a:p>
        </p:txBody>
      </p:sp>
      <p:sp>
        <p:nvSpPr>
          <p:cNvPr id="14" name="Text 12"/>
          <p:cNvSpPr/>
          <p:nvPr/>
        </p:nvSpPr>
        <p:spPr>
          <a:xfrm>
            <a:off x="2246015" y="5003602"/>
            <a:ext cx="1428254" cy="302220"/>
          </a:xfrm>
          <a:prstGeom prst="roundRect">
            <a:avLst>
              <a:gd name="adj" fmla="val 14708"/>
            </a:avLst>
          </a:prstGeom>
          <a:no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SQL DEVELOPER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9AC8"/>
                </a:solidFill>
                <a:latin typeface="DM Sans" pitchFamily="34" charset="0"/>
                <a:ea typeface="DM Sans" pitchFamily="34" charset="-122"/>
                <a:cs typeface="DM Sans" pitchFamily="34" charset="-120"/>
              </a:rPr>
              <a:t>[Nombre del estudiante] · Taller de Base de Datos · Octubre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3FE0EA"/>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B3672"/>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B3672"/>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B3672"/>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B3672"/>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B3672"/>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FE0EA"/>
                </a:solidFill>
                <a:latin typeface="Chakra Petch" pitchFamily="34" charset="0"/>
                <a:ea typeface="Chakra Petch" pitchFamily="34" charset="-122"/>
                <a:cs typeface="Chakra Petch" pitchFamily="34" charset="-120"/>
              </a:rPr>
              <a:t>01 · EL PROBLEMA Y EL CICLO</a:t>
            </a:r>
            <a:endParaRPr lang="en-US" sz="1400" dirty="0"/>
          </a:p>
        </p:txBody>
      </p:sp>
      <p:sp>
        <p:nvSpPr>
          <p:cNvPr id="21" name="Text 19"/>
          <p:cNvSpPr>
            <a:spLocks noGrp="1"/>
          </p:cNvSpPr>
          <p:nvPr>
            <p:ph type="title"/>
          </p:nvPr>
        </p:nvSpPr>
        <p:spPr>
          <a:xfrm>
            <a:off x="812800" y="12013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Sin control, la tienda pierde ventas y rastro</a:t>
            </a:r>
            <a:endParaRPr lang="en-US" sz="3200" dirty="0"/>
          </a:p>
        </p:txBody>
      </p:sp>
      <p:sp>
        <p:nvSpPr>
          <p:cNvPr id="22" name="Shape 20"/>
          <p:cNvSpPr/>
          <p:nvPr/>
        </p:nvSpPr>
        <p:spPr>
          <a:xfrm>
            <a:off x="812800" y="1788021"/>
            <a:ext cx="3437434" cy="627261"/>
          </a:xfrm>
          <a:prstGeom prst="roundRect">
            <a:avLst>
              <a:gd name="adj" fmla="val 12148"/>
            </a:avLst>
          </a:prstGeom>
          <a:solidFill>
            <a:srgbClr val="1B2352"/>
          </a:solidFill>
          <a:ln/>
        </p:spPr>
      </p:sp>
      <p:sp>
        <p:nvSpPr>
          <p:cNvPr id="23" name="Shape 21"/>
          <p:cNvSpPr/>
          <p:nvPr/>
        </p:nvSpPr>
        <p:spPr>
          <a:xfrm>
            <a:off x="812800" y="1788021"/>
            <a:ext cx="3437434" cy="627261"/>
          </a:xfrm>
          <a:custGeom>
            <a:avLst/>
            <a:gdLst/>
            <a:ahLst/>
            <a:cxnLst/>
            <a:rect l="l" t="t" r="r" b="b"/>
            <a:pathLst>
              <a:path w="3437434" h="627261">
                <a:moveTo>
                  <a:pt x="76200" y="627261"/>
                </a:moveTo>
                <a:lnTo>
                  <a:pt x="76200" y="627261"/>
                </a:lnTo>
                <a:arcTo wR="76200" hR="76200" stAng="5400000" swAng="5400000"/>
                <a:lnTo>
                  <a:pt x="0" y="76200"/>
                </a:lnTo>
                <a:arcTo wR="76200" hR="76200" stAng="10800000" swAng="5400000"/>
                <a:lnTo>
                  <a:pt x="76200" y="0"/>
                </a:lnTo>
                <a:arcTo wR="38100" hR="76200" stAng="16200000" swAng="-5400000"/>
                <a:lnTo>
                  <a:pt x="38100" y="551061"/>
                </a:lnTo>
                <a:arcTo wR="38100" hR="76200" stAng="10800000" swAng="-5400000"/>
                <a:close/>
              </a:path>
            </a:pathLst>
          </a:custGeom>
          <a:solidFill>
            <a:srgbClr val="FF6FAE"/>
          </a:solidFill>
          <a:ln/>
        </p:spPr>
      </p:sp>
      <p:sp>
        <p:nvSpPr>
          <p:cNvPr id="24" name="Text 22"/>
          <p:cNvSpPr/>
          <p:nvPr/>
        </p:nvSpPr>
        <p:spPr>
          <a:xfrm>
            <a:off x="990600" y="1906091"/>
            <a:ext cx="34671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FAE"/>
                </a:solidFill>
                <a:latin typeface="Chakra Petch" pitchFamily="34" charset="0"/>
                <a:ea typeface="Chakra Petch" pitchFamily="34" charset="-122"/>
                <a:cs typeface="Chakra Petch" pitchFamily="34" charset="-120"/>
              </a:rPr>
              <a:t>01</a:t>
            </a:r>
            <a:endParaRPr lang="en-US" sz="2200" dirty="0"/>
          </a:p>
        </p:txBody>
      </p:sp>
      <p:sp>
        <p:nvSpPr>
          <p:cNvPr id="25" name="Text 23"/>
          <p:cNvSpPr/>
          <p:nvPr/>
        </p:nvSpPr>
        <p:spPr>
          <a:xfrm>
            <a:off x="1393825" y="1889621"/>
            <a:ext cx="2797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F"/>
                </a:solidFill>
                <a:latin typeface="Chakra Petch" pitchFamily="34" charset="0"/>
                <a:ea typeface="Chakra Petch" pitchFamily="34" charset="-122"/>
                <a:cs typeface="Chakra Petch" pitchFamily="34" charset="-120"/>
              </a:rPr>
              <a:t>Se agotan los más vendidos</a:t>
            </a:r>
            <a:endParaRPr lang="en-US" sz="1400" dirty="0"/>
          </a:p>
        </p:txBody>
      </p:sp>
      <p:sp>
        <p:nvSpPr>
          <p:cNvPr id="26" name="Text 24"/>
          <p:cNvSpPr/>
          <p:nvPr/>
        </p:nvSpPr>
        <p:spPr>
          <a:xfrm>
            <a:off x="1393825" y="2115641"/>
            <a:ext cx="2797016"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2E8"/>
                </a:solidFill>
                <a:latin typeface="DM Sans" pitchFamily="34" charset="0"/>
                <a:ea typeface="DM Sans" pitchFamily="34" charset="-122"/>
                <a:cs typeface="DM Sans" pitchFamily="34" charset="-120"/>
              </a:rPr>
              <a:t>Nadie avisa cuando baja el stock.</a:t>
            </a:r>
            <a:endParaRPr lang="en-US" sz="1200" dirty="0"/>
          </a:p>
        </p:txBody>
      </p:sp>
      <p:sp>
        <p:nvSpPr>
          <p:cNvPr id="27" name="Shape 25"/>
          <p:cNvSpPr/>
          <p:nvPr/>
        </p:nvSpPr>
        <p:spPr>
          <a:xfrm>
            <a:off x="4377234" y="1788021"/>
            <a:ext cx="3437533" cy="627261"/>
          </a:xfrm>
          <a:prstGeom prst="roundRect">
            <a:avLst>
              <a:gd name="adj" fmla="val 12148"/>
            </a:avLst>
          </a:prstGeom>
          <a:solidFill>
            <a:srgbClr val="1B2352"/>
          </a:solidFill>
          <a:ln/>
        </p:spPr>
      </p:sp>
      <p:sp>
        <p:nvSpPr>
          <p:cNvPr id="28" name="Shape 26"/>
          <p:cNvSpPr/>
          <p:nvPr/>
        </p:nvSpPr>
        <p:spPr>
          <a:xfrm>
            <a:off x="4377234" y="1788021"/>
            <a:ext cx="3437533" cy="627261"/>
          </a:xfrm>
          <a:custGeom>
            <a:avLst/>
            <a:gdLst/>
            <a:ahLst/>
            <a:cxnLst/>
            <a:rect l="l" t="t" r="r" b="b"/>
            <a:pathLst>
              <a:path w="3437533" h="627261">
                <a:moveTo>
                  <a:pt x="76200" y="627261"/>
                </a:moveTo>
                <a:lnTo>
                  <a:pt x="76200" y="627261"/>
                </a:lnTo>
                <a:arcTo wR="76200" hR="76200" stAng="5400000" swAng="5400000"/>
                <a:lnTo>
                  <a:pt x="0" y="76200"/>
                </a:lnTo>
                <a:arcTo wR="76200" hR="76200" stAng="10800000" swAng="5400000"/>
                <a:lnTo>
                  <a:pt x="76200" y="0"/>
                </a:lnTo>
                <a:arcTo wR="38100" hR="76200" stAng="16200000" swAng="-5400000"/>
                <a:lnTo>
                  <a:pt x="38100" y="551061"/>
                </a:lnTo>
                <a:arcTo wR="38100" hR="76200" stAng="10800000" swAng="-5400000"/>
                <a:close/>
              </a:path>
            </a:pathLst>
          </a:custGeom>
          <a:solidFill>
            <a:srgbClr val="FF6FAE"/>
          </a:solidFill>
          <a:ln/>
        </p:spPr>
      </p:sp>
      <p:sp>
        <p:nvSpPr>
          <p:cNvPr id="29" name="Text 27"/>
          <p:cNvSpPr/>
          <p:nvPr/>
        </p:nvSpPr>
        <p:spPr>
          <a:xfrm>
            <a:off x="4555034" y="1906091"/>
            <a:ext cx="411123"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FAE"/>
                </a:solidFill>
                <a:latin typeface="Chakra Petch" pitchFamily="34" charset="0"/>
                <a:ea typeface="Chakra Petch" pitchFamily="34" charset="-122"/>
                <a:cs typeface="Chakra Petch" pitchFamily="34" charset="-120"/>
              </a:rPr>
              <a:t>02</a:t>
            </a:r>
            <a:endParaRPr lang="en-US" sz="2200" dirty="0"/>
          </a:p>
        </p:txBody>
      </p:sp>
      <p:sp>
        <p:nvSpPr>
          <p:cNvPr id="30" name="Text 28"/>
          <p:cNvSpPr/>
          <p:nvPr/>
        </p:nvSpPr>
        <p:spPr>
          <a:xfrm>
            <a:off x="5011936" y="1889621"/>
            <a:ext cx="280283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F"/>
                </a:solidFill>
                <a:latin typeface="Chakra Petch" pitchFamily="34" charset="0"/>
                <a:ea typeface="Chakra Petch" pitchFamily="34" charset="-122"/>
                <a:cs typeface="Chakra Petch" pitchFamily="34" charset="-120"/>
              </a:rPr>
              <a:t>Un error descuadra la bodega</a:t>
            </a:r>
            <a:endParaRPr lang="en-US" sz="1400" dirty="0"/>
          </a:p>
        </p:txBody>
      </p:sp>
      <p:sp>
        <p:nvSpPr>
          <p:cNvPr id="31" name="Text 29"/>
          <p:cNvSpPr/>
          <p:nvPr/>
        </p:nvSpPr>
        <p:spPr>
          <a:xfrm>
            <a:off x="5011936" y="2115641"/>
            <a:ext cx="280283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2E8"/>
                </a:solidFill>
                <a:latin typeface="DM Sans" pitchFamily="34" charset="0"/>
                <a:ea typeface="DM Sans" pitchFamily="34" charset="-122"/>
                <a:cs typeface="DM Sans" pitchFamily="34" charset="-120"/>
              </a:rPr>
              <a:t>Borrar una venta no devuelve stock.</a:t>
            </a:r>
            <a:endParaRPr lang="en-US" sz="1200" dirty="0"/>
          </a:p>
        </p:txBody>
      </p:sp>
      <p:sp>
        <p:nvSpPr>
          <p:cNvPr id="32" name="Shape 30"/>
          <p:cNvSpPr/>
          <p:nvPr/>
        </p:nvSpPr>
        <p:spPr>
          <a:xfrm>
            <a:off x="7941766" y="1788021"/>
            <a:ext cx="3437434" cy="627261"/>
          </a:xfrm>
          <a:prstGeom prst="roundRect">
            <a:avLst>
              <a:gd name="adj" fmla="val 12148"/>
            </a:avLst>
          </a:prstGeom>
          <a:solidFill>
            <a:srgbClr val="1B2352"/>
          </a:solidFill>
          <a:ln/>
        </p:spPr>
      </p:sp>
      <p:sp>
        <p:nvSpPr>
          <p:cNvPr id="33" name="Shape 31"/>
          <p:cNvSpPr/>
          <p:nvPr/>
        </p:nvSpPr>
        <p:spPr>
          <a:xfrm>
            <a:off x="7941766" y="1788021"/>
            <a:ext cx="3437434" cy="627261"/>
          </a:xfrm>
          <a:custGeom>
            <a:avLst/>
            <a:gdLst/>
            <a:ahLst/>
            <a:cxnLst/>
            <a:rect l="l" t="t" r="r" b="b"/>
            <a:pathLst>
              <a:path w="3437434" h="627261">
                <a:moveTo>
                  <a:pt x="76200" y="627261"/>
                </a:moveTo>
                <a:lnTo>
                  <a:pt x="76200" y="627261"/>
                </a:lnTo>
                <a:arcTo wR="76200" hR="76200" stAng="5400000" swAng="5400000"/>
                <a:lnTo>
                  <a:pt x="0" y="76200"/>
                </a:lnTo>
                <a:arcTo wR="76200" hR="76200" stAng="10800000" swAng="5400000"/>
                <a:lnTo>
                  <a:pt x="76200" y="0"/>
                </a:lnTo>
                <a:arcTo wR="38100" hR="76200" stAng="16200000" swAng="-5400000"/>
                <a:lnTo>
                  <a:pt x="38100" y="551061"/>
                </a:lnTo>
                <a:arcTo wR="38100" hR="76200" stAng="10800000" swAng="-5400000"/>
                <a:close/>
              </a:path>
            </a:pathLst>
          </a:custGeom>
          <a:solidFill>
            <a:srgbClr val="FF6FAE"/>
          </a:solidFill>
          <a:ln/>
        </p:spPr>
      </p:sp>
      <p:sp>
        <p:nvSpPr>
          <p:cNvPr id="34" name="Text 32"/>
          <p:cNvSpPr/>
          <p:nvPr/>
        </p:nvSpPr>
        <p:spPr>
          <a:xfrm>
            <a:off x="8119566" y="1906091"/>
            <a:ext cx="42088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6FAE"/>
                </a:solidFill>
                <a:latin typeface="Chakra Petch" pitchFamily="34" charset="0"/>
                <a:ea typeface="Chakra Petch" pitchFamily="34" charset="-122"/>
                <a:cs typeface="Chakra Petch" pitchFamily="34" charset="-120"/>
              </a:rPr>
              <a:t>03</a:t>
            </a:r>
            <a:endParaRPr lang="en-US" sz="2200" dirty="0"/>
          </a:p>
        </p:txBody>
      </p:sp>
      <p:sp>
        <p:nvSpPr>
          <p:cNvPr id="35" name="Text 33"/>
          <p:cNvSpPr/>
          <p:nvPr/>
        </p:nvSpPr>
        <p:spPr>
          <a:xfrm>
            <a:off x="8584605" y="1889621"/>
            <a:ext cx="218789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EEF2FF"/>
                </a:solidFill>
                <a:latin typeface="Chakra Petch" pitchFamily="34" charset="0"/>
                <a:ea typeface="Chakra Petch" pitchFamily="34" charset="-122"/>
                <a:cs typeface="Chakra Petch" pitchFamily="34" charset="-120"/>
              </a:rPr>
              <a:t>No queda rastro</a:t>
            </a:r>
            <a:endParaRPr lang="en-US" sz="1400" dirty="0"/>
          </a:p>
        </p:txBody>
      </p:sp>
      <p:sp>
        <p:nvSpPr>
          <p:cNvPr id="36" name="Text 34"/>
          <p:cNvSpPr/>
          <p:nvPr/>
        </p:nvSpPr>
        <p:spPr>
          <a:xfrm>
            <a:off x="8584605" y="2115641"/>
            <a:ext cx="2549009"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2E8"/>
                </a:solidFill>
                <a:latin typeface="DM Sans" pitchFamily="34" charset="0"/>
                <a:ea typeface="DM Sans" pitchFamily="34" charset="-122"/>
                <a:cs typeface="DM Sans" pitchFamily="34" charset="-120"/>
              </a:rPr>
              <a:t>No se sabe quién cambió qué.</a:t>
            </a:r>
            <a:endParaRPr lang="en-US" sz="1200" dirty="0"/>
          </a:p>
        </p:txBody>
      </p:sp>
      <p:sp>
        <p:nvSpPr>
          <p:cNvPr id="37" name="Shape 35"/>
          <p:cNvSpPr/>
          <p:nvPr/>
        </p:nvSpPr>
        <p:spPr>
          <a:xfrm>
            <a:off x="2432050" y="2554982"/>
            <a:ext cx="7327900" cy="3149600"/>
          </a:xfrm>
          <a:prstGeom prst="roundRect">
            <a:avLst>
              <a:gd name="adj" fmla="val 3226"/>
            </a:avLst>
          </a:prstGeom>
          <a:solidFill>
            <a:srgbClr val="F4F7FB"/>
          </a:solidFill>
          <a:ln/>
        </p:spPr>
      </p:sp>
      <p:pic>
        <p:nvPicPr>
          <p:cNvPr id="38" name="Image 0" descr="Diagrama de carriles: el cliente compra, el vendedor registra o anula la venta, la base de datos valida, audita y genera alertas, y el encargado hace el cierre del día y repone el stock"/>
          <p:cNvPicPr>
            <a:picLocks noChangeAspect="1"/>
          </p:cNvPicPr>
          <p:nvPr/>
        </p:nvPicPr>
        <p:blipFill>
          <a:blip r:embed="rId3"/>
          <a:srcRect l="-25" r="-25"/>
          <a:stretch/>
        </p:blipFill>
        <p:spPr>
          <a:xfrm>
            <a:off x="2508250" y="2631182"/>
            <a:ext cx="7175500" cy="2997200"/>
          </a:xfrm>
          <a:prstGeom prst="rect">
            <a:avLst/>
          </a:prstGeom>
        </p:spPr>
      </p:pic>
      <p:sp>
        <p:nvSpPr>
          <p:cNvPr id="39"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3FE0EA"/>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B3672"/>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B3672"/>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B3672"/>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B3672"/>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FE0EA"/>
                </a:solidFill>
                <a:latin typeface="Chakra Petch" pitchFamily="34" charset="0"/>
                <a:ea typeface="Chakra Petch" pitchFamily="34" charset="-122"/>
                <a:cs typeface="Chakra Petch" pitchFamily="34" charset="-120"/>
              </a:rPr>
              <a:t>02 · EL MODELO DE DATOS</a:t>
            </a:r>
            <a:endParaRPr lang="en-US" sz="1400" dirty="0"/>
          </a:p>
        </p:txBody>
      </p:sp>
      <p:sp>
        <p:nvSpPr>
          <p:cNvPr id="21" name="Text 19"/>
          <p:cNvSpPr>
            <a:spLocks noGrp="1"/>
          </p:cNvSpPr>
          <p:nvPr>
            <p:ph type="title"/>
          </p:nvPr>
        </p:nvSpPr>
        <p:spPr>
          <a:xfrm>
            <a:off x="812800" y="12648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14 tablas en tercera forma normal</a:t>
            </a:r>
            <a:endParaRPr lang="en-US" sz="3200" dirty="0"/>
          </a:p>
        </p:txBody>
      </p:sp>
      <p:sp>
        <p:nvSpPr>
          <p:cNvPr id="22" name="Text 20"/>
          <p:cNvSpPr/>
          <p:nvPr/>
        </p:nvSpPr>
        <p:spPr>
          <a:xfrm>
            <a:off x="812800" y="1915021"/>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2FF"/>
                </a:solidFill>
                <a:latin typeface="Chakra Petch" pitchFamily="34" charset="0"/>
                <a:ea typeface="Chakra Petch" pitchFamily="34" charset="-122"/>
                <a:cs typeface="Chakra Petch" pitchFamily="34" charset="-120"/>
              </a:rPr>
              <a:t>Parte 1 · operación</a:t>
            </a:r>
            <a:endParaRPr lang="en-US" sz="1600" dirty="0"/>
          </a:p>
        </p:txBody>
      </p:sp>
      <p:sp>
        <p:nvSpPr>
          <p:cNvPr id="23" name="Text 21"/>
          <p:cNvSpPr/>
          <p:nvPr/>
        </p:nvSpPr>
        <p:spPr>
          <a:xfrm>
            <a:off x="819150" y="2317552"/>
            <a:ext cx="1013520" cy="302220"/>
          </a:xfrm>
          <a:prstGeom prst="roundRect">
            <a:avLst>
              <a:gd name="adj" fmla="val 14708"/>
            </a:avLst>
          </a:prstGeom>
          <a:solidFill>
            <a:srgbClr val="1B2352"/>
          </a:solid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categoria</a:t>
            </a:r>
            <a:endParaRPr lang="en-US" sz="1200" dirty="0"/>
          </a:p>
        </p:txBody>
      </p:sp>
      <p:sp>
        <p:nvSpPr>
          <p:cNvPr id="24" name="Text 22"/>
          <p:cNvSpPr/>
          <p:nvPr/>
        </p:nvSpPr>
        <p:spPr>
          <a:xfrm>
            <a:off x="1921570" y="2317552"/>
            <a:ext cx="1104900" cy="302220"/>
          </a:xfrm>
          <a:prstGeom prst="roundRect">
            <a:avLst>
              <a:gd name="adj" fmla="val 14708"/>
            </a:avLst>
          </a:prstGeom>
          <a:solidFill>
            <a:srgbClr val="1B2352"/>
          </a:solid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videojuego</a:t>
            </a:r>
            <a:endParaRPr lang="en-US" sz="1200" dirty="0"/>
          </a:p>
        </p:txBody>
      </p:sp>
      <p:sp>
        <p:nvSpPr>
          <p:cNvPr id="25" name="Text 23"/>
          <p:cNvSpPr/>
          <p:nvPr/>
        </p:nvSpPr>
        <p:spPr>
          <a:xfrm>
            <a:off x="3115370" y="2317552"/>
            <a:ext cx="830659" cy="302220"/>
          </a:xfrm>
          <a:prstGeom prst="roundRect">
            <a:avLst>
              <a:gd name="adj" fmla="val 14708"/>
            </a:avLst>
          </a:prstGeom>
          <a:solidFill>
            <a:srgbClr val="1B2352"/>
          </a:solid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cliente</a:t>
            </a:r>
            <a:endParaRPr lang="en-US" sz="1200" dirty="0"/>
          </a:p>
        </p:txBody>
      </p:sp>
      <p:sp>
        <p:nvSpPr>
          <p:cNvPr id="26" name="Text 24"/>
          <p:cNvSpPr/>
          <p:nvPr/>
        </p:nvSpPr>
        <p:spPr>
          <a:xfrm>
            <a:off x="4034929" y="2317552"/>
            <a:ext cx="647700" cy="302220"/>
          </a:xfrm>
          <a:prstGeom prst="roundRect">
            <a:avLst>
              <a:gd name="adj" fmla="val 14708"/>
            </a:avLst>
          </a:prstGeom>
          <a:solidFill>
            <a:srgbClr val="1B2352"/>
          </a:solid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venta</a:t>
            </a:r>
            <a:endParaRPr lang="en-US" sz="1200" dirty="0"/>
          </a:p>
        </p:txBody>
      </p:sp>
      <p:sp>
        <p:nvSpPr>
          <p:cNvPr id="27" name="Text 25"/>
          <p:cNvSpPr/>
          <p:nvPr/>
        </p:nvSpPr>
        <p:spPr>
          <a:xfrm>
            <a:off x="4771529" y="2317552"/>
            <a:ext cx="1379240" cy="302220"/>
          </a:xfrm>
          <a:prstGeom prst="roundRect">
            <a:avLst>
              <a:gd name="adj" fmla="val 14708"/>
            </a:avLst>
          </a:prstGeom>
          <a:solidFill>
            <a:srgbClr val="1B2352"/>
          </a:solid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detalle_venta</a:t>
            </a:r>
            <a:endParaRPr lang="en-US" sz="1200" dirty="0"/>
          </a:p>
        </p:txBody>
      </p:sp>
      <p:sp>
        <p:nvSpPr>
          <p:cNvPr id="28" name="Text 26"/>
          <p:cNvSpPr/>
          <p:nvPr/>
        </p:nvSpPr>
        <p:spPr>
          <a:xfrm>
            <a:off x="812800" y="2778522"/>
            <a:ext cx="108833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2FF"/>
                </a:solidFill>
                <a:latin typeface="Chakra Petch" pitchFamily="34" charset="0"/>
                <a:ea typeface="Chakra Petch" pitchFamily="34" charset="-122"/>
                <a:cs typeface="Chakra Petch" pitchFamily="34" charset="-120"/>
              </a:rPr>
              <a:t>Parte 2 · control</a:t>
            </a:r>
            <a:endParaRPr lang="en-US" sz="1600" dirty="0"/>
          </a:p>
        </p:txBody>
      </p:sp>
      <p:sp>
        <p:nvSpPr>
          <p:cNvPr id="29" name="Text 27"/>
          <p:cNvSpPr/>
          <p:nvPr/>
        </p:nvSpPr>
        <p:spPr>
          <a:xfrm>
            <a:off x="819150" y="3181052"/>
            <a:ext cx="1745059"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precio_videojuego</a:t>
            </a:r>
            <a:endParaRPr lang="en-US" sz="1200" dirty="0"/>
          </a:p>
        </p:txBody>
      </p:sp>
      <p:sp>
        <p:nvSpPr>
          <p:cNvPr id="30" name="Text 28"/>
          <p:cNvSpPr/>
          <p:nvPr/>
        </p:nvSpPr>
        <p:spPr>
          <a:xfrm>
            <a:off x="2653109" y="3181052"/>
            <a:ext cx="165358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historial_precio</a:t>
            </a:r>
            <a:endParaRPr lang="en-US" sz="1200" dirty="0"/>
          </a:p>
        </p:txBody>
      </p:sp>
      <p:sp>
        <p:nvSpPr>
          <p:cNvPr id="31" name="Text 29"/>
          <p:cNvSpPr/>
          <p:nvPr/>
        </p:nvSpPr>
        <p:spPr>
          <a:xfrm>
            <a:off x="4395589" y="3181052"/>
            <a:ext cx="1745059"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alerta_reposicion</a:t>
            </a:r>
            <a:endParaRPr lang="en-US" sz="1200" dirty="0"/>
          </a:p>
        </p:txBody>
      </p:sp>
      <p:sp>
        <p:nvSpPr>
          <p:cNvPr id="32" name="Text 30"/>
          <p:cNvSpPr/>
          <p:nvPr/>
        </p:nvSpPr>
        <p:spPr>
          <a:xfrm>
            <a:off x="6229548" y="3181052"/>
            <a:ext cx="110490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reposicion</a:t>
            </a:r>
            <a:endParaRPr lang="en-US" sz="1200" dirty="0"/>
          </a:p>
        </p:txBody>
      </p:sp>
      <p:sp>
        <p:nvSpPr>
          <p:cNvPr id="33" name="Text 31"/>
          <p:cNvSpPr/>
          <p:nvPr/>
        </p:nvSpPr>
        <p:spPr>
          <a:xfrm>
            <a:off x="7423348" y="3181052"/>
            <a:ext cx="137924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venta_anulada</a:t>
            </a:r>
            <a:endParaRPr lang="en-US" sz="1200" dirty="0"/>
          </a:p>
        </p:txBody>
      </p:sp>
      <p:sp>
        <p:nvSpPr>
          <p:cNvPr id="34" name="Text 32"/>
          <p:cNvSpPr/>
          <p:nvPr/>
        </p:nvSpPr>
        <p:spPr>
          <a:xfrm>
            <a:off x="8891488" y="3181052"/>
            <a:ext cx="211078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detalle_venta_anulada</a:t>
            </a:r>
            <a:endParaRPr lang="en-US" sz="1200" dirty="0"/>
          </a:p>
        </p:txBody>
      </p:sp>
      <p:sp>
        <p:nvSpPr>
          <p:cNvPr id="35" name="Text 33"/>
          <p:cNvSpPr/>
          <p:nvPr/>
        </p:nvSpPr>
        <p:spPr>
          <a:xfrm>
            <a:off x="819150" y="3572173"/>
            <a:ext cx="156210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auditoria_stock</a:t>
            </a:r>
            <a:endParaRPr lang="en-US" sz="1200" dirty="0"/>
          </a:p>
        </p:txBody>
      </p:sp>
      <p:sp>
        <p:nvSpPr>
          <p:cNvPr id="36" name="Text 34"/>
          <p:cNvSpPr/>
          <p:nvPr/>
        </p:nvSpPr>
        <p:spPr>
          <a:xfrm>
            <a:off x="2470150" y="3572173"/>
            <a:ext cx="1562100"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auditoria_venta</a:t>
            </a:r>
            <a:endParaRPr lang="en-US" sz="1200" dirty="0"/>
          </a:p>
        </p:txBody>
      </p:sp>
      <p:sp>
        <p:nvSpPr>
          <p:cNvPr id="37" name="Text 35"/>
          <p:cNvSpPr/>
          <p:nvPr/>
        </p:nvSpPr>
        <p:spPr>
          <a:xfrm>
            <a:off x="4121150" y="3572173"/>
            <a:ext cx="2202259" cy="302220"/>
          </a:xfrm>
          <a:prstGeom prst="roundRect">
            <a:avLst>
              <a:gd name="adj" fmla="val 14708"/>
            </a:avLst>
          </a:prstGeom>
          <a:solidFill>
            <a:srgbClr val="1B2352"/>
          </a:solid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dirty="0">
                <a:solidFill>
                  <a:srgbClr val="EEF2FF"/>
                </a:solidFill>
                <a:latin typeface="JetBrains Mono" pitchFamily="49" charset="0"/>
                <a:ea typeface="JetBrains Mono" pitchFamily="49" charset="-122"/>
                <a:cs typeface="JetBrains Mono" pitchFamily="49" charset="-120"/>
              </a:rPr>
              <a:t>resumen_venta_producto</a:t>
            </a:r>
            <a:endParaRPr lang="en-US" sz="1200" dirty="0"/>
          </a:p>
        </p:txBody>
      </p:sp>
      <p:sp>
        <p:nvSpPr>
          <p:cNvPr id="38" name="Text 36"/>
          <p:cNvSpPr/>
          <p:nvPr/>
        </p:nvSpPr>
        <p:spPr>
          <a:xfrm>
            <a:off x="812800" y="408394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EF2FF"/>
                </a:solidFill>
                <a:latin typeface="Chakra Petch" pitchFamily="34" charset="0"/>
                <a:ea typeface="Chakra Petch" pitchFamily="34" charset="-122"/>
                <a:cs typeface="Chakra Petch" pitchFamily="34" charset="-120"/>
              </a:rPr>
              <a:t>¿Por qué en tercera forma normal?</a:t>
            </a:r>
            <a:endParaRPr lang="en-US" sz="1400" dirty="0"/>
          </a:p>
        </p:txBody>
      </p:sp>
      <p:sp>
        <p:nvSpPr>
          <p:cNvPr id="39" name="Shape 37"/>
          <p:cNvSpPr/>
          <p:nvPr/>
        </p:nvSpPr>
        <p:spPr>
          <a:xfrm>
            <a:off x="812800" y="4421684"/>
            <a:ext cx="3437434" cy="929481"/>
          </a:xfrm>
          <a:prstGeom prst="roundRect">
            <a:avLst>
              <a:gd name="adj" fmla="val 8198"/>
            </a:avLst>
          </a:prstGeom>
          <a:solidFill>
            <a:srgbClr val="1B2352"/>
          </a:solidFill>
          <a:ln/>
        </p:spPr>
      </p:sp>
      <p:sp>
        <p:nvSpPr>
          <p:cNvPr id="40" name="Shape 38"/>
          <p:cNvSpPr/>
          <p:nvPr/>
        </p:nvSpPr>
        <p:spPr>
          <a:xfrm>
            <a:off x="812800" y="4421684"/>
            <a:ext cx="3437434" cy="929481"/>
          </a:xfrm>
          <a:custGeom>
            <a:avLst/>
            <a:gdLst/>
            <a:ahLst/>
            <a:cxnLst/>
            <a:rect l="l" t="t" r="r" b="b"/>
            <a:pathLst>
              <a:path w="3437434" h="929481">
                <a:moveTo>
                  <a:pt x="0" y="76200"/>
                </a:moveTo>
                <a:lnTo>
                  <a:pt x="0" y="76200"/>
                </a:lnTo>
                <a:arcTo wR="76200" hR="76200" stAng="10800000" swAng="5400000"/>
                <a:lnTo>
                  <a:pt x="3361234" y="0"/>
                </a:lnTo>
                <a:arcTo wR="76200" hR="76200" stAng="16200000" swAng="5400000"/>
                <a:lnTo>
                  <a:pt x="3437434" y="76200"/>
                </a:lnTo>
                <a:arcTo wR="76200" hR="38100" stAng="0" swAng="-5400000"/>
                <a:lnTo>
                  <a:pt x="76200" y="38100"/>
                </a:lnTo>
                <a:arcTo wR="76200" hR="38100" stAng="16200000" swAng="-5400000"/>
                <a:close/>
              </a:path>
            </a:pathLst>
          </a:custGeom>
          <a:solidFill>
            <a:srgbClr val="3FE0EA"/>
          </a:solidFill>
          <a:ln/>
        </p:spPr>
      </p:sp>
      <p:sp>
        <p:nvSpPr>
          <p:cNvPr id="41" name="Text 39"/>
          <p:cNvSpPr/>
          <p:nvPr/>
        </p:nvSpPr>
        <p:spPr>
          <a:xfrm>
            <a:off x="952500" y="4574084"/>
            <a:ext cx="325277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3FE0EA"/>
                </a:solidFill>
                <a:latin typeface="Chakra Petch" pitchFamily="34" charset="0"/>
                <a:ea typeface="Chakra Petch" pitchFamily="34" charset="-122"/>
                <a:cs typeface="Chakra Petch" pitchFamily="34" charset="-120"/>
              </a:rPr>
              <a:t>Cada dato en un solo lugar</a:t>
            </a:r>
            <a:endParaRPr lang="en-US" sz="1400" dirty="0"/>
          </a:p>
        </p:txBody>
      </p:sp>
      <p:sp>
        <p:nvSpPr>
          <p:cNvPr id="42" name="Text 40"/>
          <p:cNvSpPr/>
          <p:nvPr/>
        </p:nvSpPr>
        <p:spPr>
          <a:xfrm>
            <a:off x="952500" y="4825504"/>
            <a:ext cx="325277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EF2FF"/>
                </a:solidFill>
                <a:latin typeface="DM Sans" pitchFamily="34" charset="0"/>
                <a:ea typeface="DM Sans" pitchFamily="34" charset="-122"/>
                <a:cs typeface="DM Sans" pitchFamily="34" charset="-120"/>
              </a:rPr>
              <a:t>El precio vive solo en precio_videojuego.</a:t>
            </a:r>
            <a:endParaRPr lang="en-US" sz="1200" dirty="0"/>
          </a:p>
        </p:txBody>
      </p:sp>
      <p:sp>
        <p:nvSpPr>
          <p:cNvPr id="43" name="Shape 41"/>
          <p:cNvSpPr/>
          <p:nvPr/>
        </p:nvSpPr>
        <p:spPr>
          <a:xfrm>
            <a:off x="4377234" y="4421684"/>
            <a:ext cx="3437533" cy="929481"/>
          </a:xfrm>
          <a:prstGeom prst="roundRect">
            <a:avLst>
              <a:gd name="adj" fmla="val 8198"/>
            </a:avLst>
          </a:prstGeom>
          <a:solidFill>
            <a:srgbClr val="1B2352"/>
          </a:solidFill>
          <a:ln/>
        </p:spPr>
      </p:sp>
      <p:sp>
        <p:nvSpPr>
          <p:cNvPr id="44" name="Shape 42"/>
          <p:cNvSpPr/>
          <p:nvPr/>
        </p:nvSpPr>
        <p:spPr>
          <a:xfrm>
            <a:off x="4377234" y="4421684"/>
            <a:ext cx="3437533" cy="929481"/>
          </a:xfrm>
          <a:custGeom>
            <a:avLst/>
            <a:gdLst/>
            <a:ahLst/>
            <a:cxnLst/>
            <a:rect l="l" t="t" r="r" b="b"/>
            <a:pathLst>
              <a:path w="3437533" h="929481">
                <a:moveTo>
                  <a:pt x="0" y="76200"/>
                </a:moveTo>
                <a:lnTo>
                  <a:pt x="0" y="76200"/>
                </a:lnTo>
                <a:arcTo wR="76200" hR="76200" stAng="10800000" swAng="5400000"/>
                <a:lnTo>
                  <a:pt x="3361333" y="0"/>
                </a:lnTo>
                <a:arcTo wR="76200" hR="76200" stAng="16200000" swAng="5400000"/>
                <a:lnTo>
                  <a:pt x="3437533" y="76200"/>
                </a:lnTo>
                <a:arcTo wR="76200" hR="38100" stAng="0" swAng="-5400000"/>
                <a:lnTo>
                  <a:pt x="76200" y="38100"/>
                </a:lnTo>
                <a:arcTo wR="76200" hR="38100" stAng="16200000" swAng="-5400000"/>
                <a:close/>
              </a:path>
            </a:pathLst>
          </a:custGeom>
          <a:solidFill>
            <a:srgbClr val="3FE0EA"/>
          </a:solidFill>
          <a:ln/>
        </p:spPr>
      </p:sp>
      <p:sp>
        <p:nvSpPr>
          <p:cNvPr id="45" name="Text 43"/>
          <p:cNvSpPr/>
          <p:nvPr/>
        </p:nvSpPr>
        <p:spPr>
          <a:xfrm>
            <a:off x="4516934" y="4574084"/>
            <a:ext cx="325287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3FE0EA"/>
                </a:solidFill>
                <a:latin typeface="Chakra Petch" pitchFamily="34" charset="0"/>
                <a:ea typeface="Chakra Petch" pitchFamily="34" charset="-122"/>
                <a:cs typeface="Chakra Petch" pitchFamily="34" charset="-120"/>
              </a:rPr>
              <a:t>Lo que se calcula, no se guarda</a:t>
            </a:r>
            <a:endParaRPr lang="en-US" sz="1400" dirty="0"/>
          </a:p>
        </p:txBody>
      </p:sp>
      <p:sp>
        <p:nvSpPr>
          <p:cNvPr id="46" name="Text 44"/>
          <p:cNvSpPr/>
          <p:nvPr/>
        </p:nvSpPr>
        <p:spPr>
          <a:xfrm>
            <a:off x="4516934" y="4825504"/>
            <a:ext cx="3252877"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EF2FF"/>
                </a:solidFill>
                <a:latin typeface="DM Sans" pitchFamily="34" charset="0"/>
                <a:ea typeface="DM Sans" pitchFamily="34" charset="-122"/>
                <a:cs typeface="DM Sans" pitchFamily="34" charset="-120"/>
              </a:rPr>
              <a:t>El total de una venta se suma desde su detalle.</a:t>
            </a:r>
            <a:endParaRPr lang="en-US" sz="1200" dirty="0"/>
          </a:p>
        </p:txBody>
      </p:sp>
      <p:sp>
        <p:nvSpPr>
          <p:cNvPr id="47" name="Shape 45"/>
          <p:cNvSpPr/>
          <p:nvPr/>
        </p:nvSpPr>
        <p:spPr>
          <a:xfrm>
            <a:off x="7941766" y="4421684"/>
            <a:ext cx="3437434" cy="929481"/>
          </a:xfrm>
          <a:prstGeom prst="roundRect">
            <a:avLst>
              <a:gd name="adj" fmla="val 8198"/>
            </a:avLst>
          </a:prstGeom>
          <a:solidFill>
            <a:srgbClr val="1B2352"/>
          </a:solidFill>
          <a:ln/>
        </p:spPr>
      </p:sp>
      <p:sp>
        <p:nvSpPr>
          <p:cNvPr id="48" name="Shape 46"/>
          <p:cNvSpPr/>
          <p:nvPr/>
        </p:nvSpPr>
        <p:spPr>
          <a:xfrm>
            <a:off x="7941766" y="4421684"/>
            <a:ext cx="3437434" cy="929481"/>
          </a:xfrm>
          <a:custGeom>
            <a:avLst/>
            <a:gdLst/>
            <a:ahLst/>
            <a:cxnLst/>
            <a:rect l="l" t="t" r="r" b="b"/>
            <a:pathLst>
              <a:path w="3437434" h="929481">
                <a:moveTo>
                  <a:pt x="0" y="76200"/>
                </a:moveTo>
                <a:lnTo>
                  <a:pt x="0" y="76200"/>
                </a:lnTo>
                <a:arcTo wR="76200" hR="76200" stAng="10800000" swAng="5400000"/>
                <a:lnTo>
                  <a:pt x="3361234" y="0"/>
                </a:lnTo>
                <a:arcTo wR="76200" hR="76200" stAng="16200000" swAng="5400000"/>
                <a:lnTo>
                  <a:pt x="3437434" y="76200"/>
                </a:lnTo>
                <a:arcTo wR="76200" hR="38100" stAng="0" swAng="-5400000"/>
                <a:lnTo>
                  <a:pt x="76200" y="38100"/>
                </a:lnTo>
                <a:arcTo wR="76200" hR="38100" stAng="16200000" swAng="-5400000"/>
                <a:close/>
              </a:path>
            </a:pathLst>
          </a:custGeom>
          <a:solidFill>
            <a:srgbClr val="3FE0EA"/>
          </a:solidFill>
          <a:ln/>
        </p:spPr>
      </p:sp>
      <p:sp>
        <p:nvSpPr>
          <p:cNvPr id="49" name="Text 47"/>
          <p:cNvSpPr/>
          <p:nvPr/>
        </p:nvSpPr>
        <p:spPr>
          <a:xfrm>
            <a:off x="8081466" y="4574084"/>
            <a:ext cx="325277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3FE0EA"/>
                </a:solidFill>
                <a:latin typeface="Chakra Petch" pitchFamily="34" charset="0"/>
                <a:ea typeface="Chakra Petch" pitchFamily="34" charset="-122"/>
                <a:cs typeface="Chakra Petch" pitchFamily="34" charset="-120"/>
              </a:rPr>
              <a:t>Sin contradicciones</a:t>
            </a:r>
            <a:endParaRPr lang="en-US" sz="1400" dirty="0"/>
          </a:p>
        </p:txBody>
      </p:sp>
      <p:sp>
        <p:nvSpPr>
          <p:cNvPr id="50" name="Text 48"/>
          <p:cNvSpPr/>
          <p:nvPr/>
        </p:nvSpPr>
        <p:spPr>
          <a:xfrm>
            <a:off x="8081466" y="4825504"/>
            <a:ext cx="329773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EEF2FF"/>
                </a:solidFill>
                <a:latin typeface="DM Sans" pitchFamily="34" charset="0"/>
                <a:ea typeface="DM Sans" pitchFamily="34" charset="-122"/>
                <a:cs typeface="DM Sans" pitchFamily="34" charset="-120"/>
              </a:rPr>
              <a:t>Si cambia un precio, cambia en un solo sitio.</a:t>
            </a:r>
            <a:endParaRPr lang="en-US" sz="1200" dirty="0"/>
          </a:p>
        </p:txBody>
      </p:sp>
      <p:sp>
        <p:nvSpPr>
          <p:cNvPr id="51" name="Text 4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4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3FE0EA"/>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B3672"/>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B3672"/>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B3672"/>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54595"/>
          </a:xfrm>
          <a:prstGeom prst="rect">
            <a:avLst/>
          </a:prstGeom>
          <a:noFill/>
          <a:ln/>
        </p:spPr>
        <p:txBody>
          <a:bodyPr wrap="square" lIns="0" tIns="0" rIns="0" bIns="0" rtlCol="0" anchor="t">
            <a:normAutofit/>
          </a:bodyPr>
          <a:lstStyle/>
          <a:p>
            <a:pPr marL="0" indent="0" algn="l">
              <a:lnSpc>
                <a:spcPts val="1819"/>
              </a:lnSpc>
              <a:buNone/>
            </a:pPr>
            <a:r>
              <a:rPr lang="en-US" sz="1299" b="1" kern="0" spc="150" dirty="0">
                <a:solidFill>
                  <a:srgbClr val="3FE0EA"/>
                </a:solidFill>
                <a:latin typeface="Chakra Petch" pitchFamily="34" charset="0"/>
                <a:ea typeface="Chakra Petch" pitchFamily="34" charset="-122"/>
                <a:cs typeface="Chakra Petch" pitchFamily="34" charset="-120"/>
              </a:rPr>
              <a:t>FLUJO 1 · CATÁLOGO Y CLIENTES</a:t>
            </a:r>
            <a:endParaRPr lang="en-US" sz="1299" dirty="0"/>
          </a:p>
        </p:txBody>
      </p:sp>
      <p:sp>
        <p:nvSpPr>
          <p:cNvPr id="21" name="Text 19"/>
          <p:cNvSpPr>
            <a:spLocks noGrp="1"/>
          </p:cNvSpPr>
          <p:nvPr>
            <p:ph type="title"/>
          </p:nvPr>
        </p:nvSpPr>
        <p:spPr>
          <a:xfrm>
            <a:off x="812800" y="1143595"/>
            <a:ext cx="10883392" cy="436959"/>
          </a:xfrm>
          <a:prstGeom prst="rect">
            <a:avLst/>
          </a:prstGeom>
          <a:noFill/>
          <a:ln/>
        </p:spPr>
        <p:txBody>
          <a:bodyPr wrap="square" lIns="0" tIns="0" rIns="0" bIns="0" rtlCol="0" anchor="t">
            <a:normAutofit/>
          </a:bodyPr>
          <a:lstStyle/>
          <a:p>
            <a:pPr marL="0" indent="0" algn="l">
              <a:lnSpc>
                <a:spcPts val="3267"/>
              </a:lnSpc>
              <a:buNone/>
            </a:pPr>
            <a:r>
              <a:rPr lang="en-US" sz="2970" b="1" i="0" dirty="0">
                <a:solidFill>
                  <a:srgbClr val="EEF2FF"/>
                </a:solidFill>
                <a:latin typeface="Chakra Petch" pitchFamily="34" charset="0"/>
                <a:ea typeface="Chakra Petch" pitchFamily="34" charset="-122"/>
                <a:cs typeface="Chakra Petch" pitchFamily="34" charset="-120"/>
              </a:rPr>
              <a:t>El catálogo queda siempre registrado</a:t>
            </a:r>
            <a:endParaRPr lang="en-US" sz="2970" dirty="0"/>
          </a:p>
        </p:txBody>
      </p:sp>
      <p:sp>
        <p:nvSpPr>
          <p:cNvPr id="22" name="Text 20"/>
          <p:cNvSpPr/>
          <p:nvPr/>
        </p:nvSpPr>
        <p:spPr>
          <a:xfrm>
            <a:off x="812800" y="1720652"/>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1</a:t>
            </a:r>
            <a:endParaRPr lang="en-US" sz="1200" dirty="0"/>
          </a:p>
        </p:txBody>
      </p:sp>
      <p:sp>
        <p:nvSpPr>
          <p:cNvPr id="23" name="Text 21"/>
          <p:cNvSpPr/>
          <p:nvPr/>
        </p:nvSpPr>
        <p:spPr>
          <a:xfrm>
            <a:off x="1231900" y="163820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Llega un juego nuevo con su precio</a:t>
            </a:r>
            <a:endParaRPr lang="en-US" sz="1300" dirty="0"/>
          </a:p>
        </p:txBody>
      </p:sp>
      <p:sp>
        <p:nvSpPr>
          <p:cNvPr id="24" name="Text 22"/>
          <p:cNvSpPr/>
          <p:nvPr/>
        </p:nvSpPr>
        <p:spPr>
          <a:xfrm>
            <a:off x="1231900" y="1894681"/>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25" name="Text 23"/>
          <p:cNvSpPr/>
          <p:nvPr/>
        </p:nvSpPr>
        <p:spPr>
          <a:xfrm>
            <a:off x="2609155" y="1894681"/>
            <a:ext cx="34016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pkg_catalogo.agregar_videojuego</a:t>
            </a:r>
            <a:endParaRPr lang="en-US" sz="1200" dirty="0"/>
          </a:p>
        </p:txBody>
      </p:sp>
      <p:sp>
        <p:nvSpPr>
          <p:cNvPr id="26" name="Shape 24"/>
          <p:cNvSpPr/>
          <p:nvPr/>
        </p:nvSpPr>
        <p:spPr>
          <a:xfrm>
            <a:off x="952500" y="2089348"/>
            <a:ext cx="25400" cy="38100"/>
          </a:xfrm>
          <a:prstGeom prst="rect">
            <a:avLst/>
          </a:prstGeom>
          <a:solidFill>
            <a:srgbClr val="2B3672"/>
          </a:solidFill>
          <a:ln/>
        </p:spPr>
      </p:sp>
      <p:sp>
        <p:nvSpPr>
          <p:cNvPr id="27" name="Text 25"/>
          <p:cNvSpPr/>
          <p:nvPr/>
        </p:nvSpPr>
        <p:spPr>
          <a:xfrm>
            <a:off x="812800" y="2188369"/>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2</a:t>
            </a:r>
            <a:endParaRPr lang="en-US" sz="1200" dirty="0"/>
          </a:p>
        </p:txBody>
      </p:sp>
      <p:sp>
        <p:nvSpPr>
          <p:cNvPr id="28" name="Text 26"/>
          <p:cNvSpPr/>
          <p:nvPr/>
        </p:nvSpPr>
        <p:spPr>
          <a:xfrm>
            <a:off x="1231900" y="2105918"/>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Entra sin stock: se abre su alerta sola</a:t>
            </a:r>
            <a:endParaRPr lang="en-US" sz="1300" dirty="0"/>
          </a:p>
        </p:txBody>
      </p:sp>
      <p:sp>
        <p:nvSpPr>
          <p:cNvPr id="29" name="Text 27"/>
          <p:cNvSpPr/>
          <p:nvPr/>
        </p:nvSpPr>
        <p:spPr>
          <a:xfrm>
            <a:off x="1231900" y="2362398"/>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30" name="Text 28"/>
          <p:cNvSpPr/>
          <p:nvPr/>
        </p:nvSpPr>
        <p:spPr>
          <a:xfrm>
            <a:off x="2048768" y="2362398"/>
            <a:ext cx="2304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trg_alerta_reposicion</a:t>
            </a:r>
            <a:endParaRPr lang="en-US" sz="1200" dirty="0"/>
          </a:p>
        </p:txBody>
      </p:sp>
      <p:sp>
        <p:nvSpPr>
          <p:cNvPr id="31" name="Shape 29"/>
          <p:cNvSpPr/>
          <p:nvPr/>
        </p:nvSpPr>
        <p:spPr>
          <a:xfrm>
            <a:off x="952500" y="2557066"/>
            <a:ext cx="25400" cy="38100"/>
          </a:xfrm>
          <a:prstGeom prst="rect">
            <a:avLst/>
          </a:prstGeom>
          <a:solidFill>
            <a:srgbClr val="2B3672"/>
          </a:solidFill>
          <a:ln/>
        </p:spPr>
      </p:sp>
      <p:sp>
        <p:nvSpPr>
          <p:cNvPr id="32" name="Text 30"/>
          <p:cNvSpPr/>
          <p:nvPr/>
        </p:nvSpPr>
        <p:spPr>
          <a:xfrm>
            <a:off x="812800" y="2656086"/>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3</a:t>
            </a:r>
            <a:endParaRPr lang="en-US" sz="1200" dirty="0"/>
          </a:p>
        </p:txBody>
      </p:sp>
      <p:sp>
        <p:nvSpPr>
          <p:cNvPr id="33" name="Text 31"/>
          <p:cNvSpPr/>
          <p:nvPr/>
        </p:nvSpPr>
        <p:spPr>
          <a:xfrm>
            <a:off x="1231900" y="2573635"/>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encargado cambia un precio</a:t>
            </a:r>
            <a:endParaRPr lang="en-US" sz="1300" dirty="0"/>
          </a:p>
        </p:txBody>
      </p:sp>
      <p:sp>
        <p:nvSpPr>
          <p:cNvPr id="34" name="Text 32"/>
          <p:cNvSpPr/>
          <p:nvPr/>
        </p:nvSpPr>
        <p:spPr>
          <a:xfrm>
            <a:off x="1231900" y="2830116"/>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35" name="Text 33"/>
          <p:cNvSpPr/>
          <p:nvPr/>
        </p:nvSpPr>
        <p:spPr>
          <a:xfrm>
            <a:off x="2609155" y="2830116"/>
            <a:ext cx="329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pkg_catalogo.actualizar_precio</a:t>
            </a:r>
            <a:endParaRPr lang="en-US" sz="1200" dirty="0"/>
          </a:p>
        </p:txBody>
      </p:sp>
      <p:sp>
        <p:nvSpPr>
          <p:cNvPr id="36" name="Shape 34"/>
          <p:cNvSpPr/>
          <p:nvPr/>
        </p:nvSpPr>
        <p:spPr>
          <a:xfrm>
            <a:off x="952500" y="3024882"/>
            <a:ext cx="25400" cy="38100"/>
          </a:xfrm>
          <a:prstGeom prst="rect">
            <a:avLst/>
          </a:prstGeom>
          <a:solidFill>
            <a:srgbClr val="2B3672"/>
          </a:solidFill>
          <a:ln/>
        </p:spPr>
      </p:sp>
      <p:sp>
        <p:nvSpPr>
          <p:cNvPr id="37" name="Text 35"/>
          <p:cNvSpPr/>
          <p:nvPr/>
        </p:nvSpPr>
        <p:spPr>
          <a:xfrm>
            <a:off x="812800" y="3123902"/>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4</a:t>
            </a:r>
            <a:endParaRPr lang="en-US" sz="1200" dirty="0"/>
          </a:p>
        </p:txBody>
      </p:sp>
      <p:sp>
        <p:nvSpPr>
          <p:cNvPr id="38" name="Text 36"/>
          <p:cNvSpPr/>
          <p:nvPr/>
        </p:nvSpPr>
        <p:spPr>
          <a:xfrm>
            <a:off x="1231900" y="3041452"/>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guarda el precio anterior y quién lo cambió</a:t>
            </a:r>
            <a:endParaRPr lang="en-US" sz="1300" dirty="0"/>
          </a:p>
        </p:txBody>
      </p:sp>
      <p:sp>
        <p:nvSpPr>
          <p:cNvPr id="39" name="Text 37"/>
          <p:cNvSpPr/>
          <p:nvPr/>
        </p:nvSpPr>
        <p:spPr>
          <a:xfrm>
            <a:off x="1231900" y="3297932"/>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40" name="Text 38"/>
          <p:cNvSpPr/>
          <p:nvPr/>
        </p:nvSpPr>
        <p:spPr>
          <a:xfrm>
            <a:off x="2048768" y="3297932"/>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trg_historial_precio</a:t>
            </a:r>
            <a:endParaRPr lang="en-US" sz="1200" dirty="0"/>
          </a:p>
        </p:txBody>
      </p:sp>
      <p:sp>
        <p:nvSpPr>
          <p:cNvPr id="41" name="Shape 39"/>
          <p:cNvSpPr/>
          <p:nvPr/>
        </p:nvSpPr>
        <p:spPr>
          <a:xfrm>
            <a:off x="952500" y="3492698"/>
            <a:ext cx="25400" cy="38100"/>
          </a:xfrm>
          <a:prstGeom prst="rect">
            <a:avLst/>
          </a:prstGeom>
          <a:solidFill>
            <a:srgbClr val="2B3672"/>
          </a:solidFill>
          <a:ln/>
        </p:spPr>
      </p:sp>
      <p:sp>
        <p:nvSpPr>
          <p:cNvPr id="42" name="Text 40"/>
          <p:cNvSpPr/>
          <p:nvPr/>
        </p:nvSpPr>
        <p:spPr>
          <a:xfrm>
            <a:off x="812800" y="3603427"/>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5</a:t>
            </a:r>
            <a:endParaRPr lang="en-US" sz="1200" dirty="0"/>
          </a:p>
        </p:txBody>
      </p:sp>
      <p:sp>
        <p:nvSpPr>
          <p:cNvPr id="43" name="Text 41"/>
          <p:cNvSpPr/>
          <p:nvPr/>
        </p:nvSpPr>
        <p:spPr>
          <a:xfrm>
            <a:off x="1231900" y="3508276"/>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Ajusta el stock mínimo de toda una categoría</a:t>
            </a:r>
            <a:endParaRPr lang="en-US" sz="1300" dirty="0"/>
          </a:p>
        </p:txBody>
      </p:sp>
      <p:sp>
        <p:nvSpPr>
          <p:cNvPr id="44" name="Text 42"/>
          <p:cNvSpPr/>
          <p:nvPr/>
        </p:nvSpPr>
        <p:spPr>
          <a:xfrm>
            <a:off x="1231900" y="3777456"/>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45" name="Text 43"/>
          <p:cNvSpPr/>
          <p:nvPr/>
        </p:nvSpPr>
        <p:spPr>
          <a:xfrm>
            <a:off x="2609155" y="3777456"/>
            <a:ext cx="24488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pr_actualizar_stock_minimo</a:t>
            </a:r>
            <a:endParaRPr lang="en-US" sz="1200" dirty="0"/>
          </a:p>
        </p:txBody>
      </p:sp>
      <p:sp>
        <p:nvSpPr>
          <p:cNvPr id="46" name="Text 44"/>
          <p:cNvSpPr/>
          <p:nvPr/>
        </p:nvSpPr>
        <p:spPr>
          <a:xfrm>
            <a:off x="5056485" y="3771106"/>
            <a:ext cx="2412603"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3FE0EA"/>
                </a:solidFill>
                <a:latin typeface="DM Sans" pitchFamily="34" charset="0"/>
                <a:ea typeface="DM Sans" pitchFamily="34" charset="-122"/>
                <a:cs typeface="DM Sans" pitchFamily="34" charset="-120"/>
              </a:rPr>
              <a:t>con parámetros IN/OUT · masivo</a:t>
            </a:r>
            <a:endParaRPr lang="en-US" sz="1200" dirty="0"/>
          </a:p>
        </p:txBody>
      </p:sp>
      <p:sp>
        <p:nvSpPr>
          <p:cNvPr id="47" name="Shape 45"/>
          <p:cNvSpPr/>
          <p:nvPr/>
        </p:nvSpPr>
        <p:spPr>
          <a:xfrm>
            <a:off x="952500" y="3983831"/>
            <a:ext cx="25400" cy="38100"/>
          </a:xfrm>
          <a:prstGeom prst="rect">
            <a:avLst/>
          </a:prstGeom>
          <a:solidFill>
            <a:srgbClr val="2B3672"/>
          </a:solidFill>
          <a:ln/>
        </p:spPr>
      </p:sp>
      <p:sp>
        <p:nvSpPr>
          <p:cNvPr id="48" name="Text 46"/>
          <p:cNvSpPr/>
          <p:nvPr/>
        </p:nvSpPr>
        <p:spPr>
          <a:xfrm>
            <a:off x="812800" y="4082852"/>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6</a:t>
            </a:r>
            <a:endParaRPr lang="en-US" sz="1200" dirty="0"/>
          </a:p>
        </p:txBody>
      </p:sp>
      <p:sp>
        <p:nvSpPr>
          <p:cNvPr id="49" name="Text 47"/>
          <p:cNvSpPr/>
          <p:nvPr/>
        </p:nvSpPr>
        <p:spPr>
          <a:xfrm>
            <a:off x="1231900" y="400040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registra un cliente nuevo</a:t>
            </a:r>
            <a:endParaRPr lang="en-US" sz="1300" dirty="0"/>
          </a:p>
        </p:txBody>
      </p:sp>
      <p:sp>
        <p:nvSpPr>
          <p:cNvPr id="50" name="Text 48"/>
          <p:cNvSpPr/>
          <p:nvPr/>
        </p:nvSpPr>
        <p:spPr>
          <a:xfrm>
            <a:off x="1231900" y="4256881"/>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51" name="Text 49"/>
          <p:cNvSpPr/>
          <p:nvPr/>
        </p:nvSpPr>
        <p:spPr>
          <a:xfrm>
            <a:off x="2609155" y="4256881"/>
            <a:ext cx="329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pkg_catalogo.registrar_cliente</a:t>
            </a:r>
            <a:endParaRPr lang="en-US" sz="1200" dirty="0"/>
          </a:p>
        </p:txBody>
      </p:sp>
      <p:sp>
        <p:nvSpPr>
          <p:cNvPr id="52" name="Shape 50"/>
          <p:cNvSpPr/>
          <p:nvPr/>
        </p:nvSpPr>
        <p:spPr>
          <a:xfrm>
            <a:off x="952500" y="4451648"/>
            <a:ext cx="25400" cy="38100"/>
          </a:xfrm>
          <a:prstGeom prst="rect">
            <a:avLst/>
          </a:prstGeom>
          <a:solidFill>
            <a:srgbClr val="2B3672"/>
          </a:solidFill>
          <a:ln/>
        </p:spPr>
      </p:sp>
      <p:sp>
        <p:nvSpPr>
          <p:cNvPr id="53" name="Text 51"/>
          <p:cNvSpPr/>
          <p:nvPr/>
        </p:nvSpPr>
        <p:spPr>
          <a:xfrm>
            <a:off x="812800" y="4562376"/>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7</a:t>
            </a:r>
            <a:endParaRPr lang="en-US" sz="1200" dirty="0"/>
          </a:p>
        </p:txBody>
      </p:sp>
      <p:sp>
        <p:nvSpPr>
          <p:cNvPr id="54" name="Text 52"/>
          <p:cNvSpPr/>
          <p:nvPr/>
        </p:nvSpPr>
        <p:spPr>
          <a:xfrm>
            <a:off x="1231900" y="4467225"/>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pr_reporte_clientes muestra cuánto compra cada uno</a:t>
            </a:r>
            <a:endParaRPr lang="en-US" sz="1300" dirty="0"/>
          </a:p>
        </p:txBody>
      </p:sp>
      <p:sp>
        <p:nvSpPr>
          <p:cNvPr id="55" name="Text 53"/>
          <p:cNvSpPr/>
          <p:nvPr/>
        </p:nvSpPr>
        <p:spPr>
          <a:xfrm>
            <a:off x="1231900" y="4736405"/>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56" name="Text 54"/>
          <p:cNvSpPr/>
          <p:nvPr/>
        </p:nvSpPr>
        <p:spPr>
          <a:xfrm>
            <a:off x="2069108" y="4736405"/>
            <a:ext cx="22604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fn_total_compras_cliente</a:t>
            </a:r>
            <a:endParaRPr lang="en-US" sz="1200" dirty="0"/>
          </a:p>
        </p:txBody>
      </p:sp>
      <p:sp>
        <p:nvSpPr>
          <p:cNvPr id="57" name="Text 55"/>
          <p:cNvSpPr/>
          <p:nvPr/>
        </p:nvSpPr>
        <p:spPr>
          <a:xfrm>
            <a:off x="4333577" y="4730055"/>
            <a:ext cx="1568450"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E7C1FF"/>
                </a:solidFill>
                <a:latin typeface="DM Sans" pitchFamily="34" charset="0"/>
                <a:ea typeface="DM Sans" pitchFamily="34" charset="-122"/>
                <a:cs typeface="DM Sans" pitchFamily="34" charset="-120"/>
              </a:rPr>
              <a:t>usada en un SELECT</a:t>
            </a:r>
            <a:endParaRPr lang="en-US" sz="1200" dirty="0"/>
          </a:p>
        </p:txBody>
      </p:sp>
      <p:sp>
        <p:nvSpPr>
          <p:cNvPr id="58" name="Shape 56"/>
          <p:cNvSpPr/>
          <p:nvPr/>
        </p:nvSpPr>
        <p:spPr>
          <a:xfrm>
            <a:off x="812800" y="5044480"/>
            <a:ext cx="10566400" cy="797520"/>
          </a:xfrm>
          <a:prstGeom prst="roundRect">
            <a:avLst>
              <a:gd name="adj" fmla="val 7962"/>
            </a:avLst>
          </a:prstGeom>
          <a:solidFill>
            <a:srgbClr val="1B2352"/>
          </a:solidFill>
          <a:ln/>
        </p:spPr>
      </p:sp>
      <p:sp>
        <p:nvSpPr>
          <p:cNvPr id="59" name="Shape 57"/>
          <p:cNvSpPr/>
          <p:nvPr/>
        </p:nvSpPr>
        <p:spPr>
          <a:xfrm>
            <a:off x="812800" y="5044480"/>
            <a:ext cx="10566400" cy="797520"/>
          </a:xfrm>
          <a:custGeom>
            <a:avLst/>
            <a:gdLst/>
            <a:ahLst/>
            <a:cxnLst/>
            <a:rect l="l" t="t" r="r" b="b"/>
            <a:pathLst>
              <a:path w="10566400" h="797520">
                <a:moveTo>
                  <a:pt x="63500" y="797520"/>
                </a:moveTo>
                <a:lnTo>
                  <a:pt x="63500" y="797520"/>
                </a:lnTo>
                <a:arcTo wR="63500" hR="63500" stAng="5400000" swAng="5400000"/>
                <a:lnTo>
                  <a:pt x="0" y="63500"/>
                </a:lnTo>
                <a:arcTo wR="63500" hR="63500" stAng="10800000" swAng="5400000"/>
                <a:lnTo>
                  <a:pt x="63500" y="0"/>
                </a:lnTo>
                <a:arcTo wR="25400" hR="63500" stAng="16200000" swAng="-5400000"/>
                <a:lnTo>
                  <a:pt x="38100" y="734020"/>
                </a:lnTo>
                <a:arcTo wR="25400" hR="63500" stAng="10800000" swAng="-5400000"/>
                <a:close/>
              </a:path>
            </a:pathLst>
          </a:custGeom>
          <a:solidFill>
            <a:srgbClr val="3FE0EA"/>
          </a:solidFill>
          <a:ln/>
        </p:spPr>
      </p:sp>
      <p:sp>
        <p:nvSpPr>
          <p:cNvPr id="60" name="Text 58"/>
          <p:cNvSpPr/>
          <p:nvPr/>
        </p:nvSpPr>
        <p:spPr>
          <a:xfrm>
            <a:off x="990600" y="5133380"/>
            <a:ext cx="10556367" cy="220067"/>
          </a:xfrm>
          <a:prstGeom prst="rect">
            <a:avLst/>
          </a:prstGeom>
          <a:noFill/>
          <a:ln/>
        </p:spPr>
        <p:txBody>
          <a:bodyPr wrap="square" lIns="0" tIns="0" rIns="0" bIns="0" rtlCol="0" anchor="t">
            <a:normAutofit/>
          </a:bodyPr>
          <a:lstStyle/>
          <a:p>
            <a:pPr marL="0" indent="0" algn="l">
              <a:lnSpc>
                <a:spcPts val="1570"/>
              </a:lnSpc>
              <a:buNone/>
            </a:pPr>
            <a:r>
              <a:rPr lang="en-US" sz="1121" b="1" kern="0" spc="50" dirty="0">
                <a:solidFill>
                  <a:srgbClr val="3FE0EA"/>
                </a:solidFill>
                <a:latin typeface="Chakra Petch" pitchFamily="34" charset="0"/>
                <a:ea typeface="Chakra Petch" pitchFamily="34" charset="-122"/>
                <a:cs typeface="Chakra Petch" pitchFamily="34" charset="-120"/>
              </a:rPr>
              <a:t>¿Por qué pr_actualizar_stock_minimo usa IN / OUT?</a:t>
            </a:r>
            <a:endParaRPr lang="en-US" sz="1121" dirty="0"/>
          </a:p>
        </p:txBody>
      </p:sp>
      <p:sp>
        <p:nvSpPr>
          <p:cNvPr id="61" name="Text 59"/>
          <p:cNvSpPr/>
          <p:nvPr/>
        </p:nvSpPr>
        <p:spPr>
          <a:xfrm>
            <a:off x="990600" y="5404247"/>
            <a:ext cx="237530" cy="195560"/>
          </a:xfrm>
          <a:custGeom>
            <a:avLst/>
            <a:gdLst/>
            <a:ahLst/>
            <a:cxnLst/>
            <a:rect l="l" t="t" r="r" b="b"/>
            <a:pathLst>
              <a:path w="237530" h="195560">
                <a:moveTo>
                  <a:pt x="31750" y="0"/>
                </a:moveTo>
                <a:lnTo>
                  <a:pt x="205780" y="0"/>
                </a:lnTo>
                <a:arcTo wR="31750" hR="31750" stAng="16200000" swAng="5400000"/>
                <a:lnTo>
                  <a:pt x="237530" y="163810"/>
                </a:lnTo>
                <a:arcTo wR="31750" hR="31750" stAng="0" swAng="5400000"/>
                <a:lnTo>
                  <a:pt x="31750" y="195560"/>
                </a:lnTo>
                <a:arcTo wR="31750" hR="31750" stAng="5400000" swAng="5400000"/>
                <a:lnTo>
                  <a:pt x="0" y="31750"/>
                </a:lnTo>
                <a:arcTo wR="31750" hR="31750" stAng="10800000" swAng="5400000"/>
                <a:close/>
              </a:path>
            </a:pathLst>
          </a:custGeom>
          <a:solidFill>
            <a:srgbClr val="3FE0EA"/>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IN</a:t>
            </a:r>
            <a:endParaRPr lang="en-US" sz="1100" dirty="0"/>
          </a:p>
        </p:txBody>
      </p:sp>
      <p:sp>
        <p:nvSpPr>
          <p:cNvPr id="62" name="Text 60"/>
          <p:cNvSpPr/>
          <p:nvPr/>
        </p:nvSpPr>
        <p:spPr>
          <a:xfrm>
            <a:off x="1304330" y="5391547"/>
            <a:ext cx="4863475"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recibe la categoría y el nuevo mínimo: cambia todos sus juegos de una vez.</a:t>
            </a:r>
            <a:endParaRPr lang="en-US" sz="1200" dirty="0"/>
          </a:p>
        </p:txBody>
      </p:sp>
      <p:sp>
        <p:nvSpPr>
          <p:cNvPr id="63" name="Text 61"/>
          <p:cNvSpPr/>
          <p:nvPr/>
        </p:nvSpPr>
        <p:spPr>
          <a:xfrm>
            <a:off x="6203950" y="5404247"/>
            <a:ext cx="378817" cy="195560"/>
          </a:xfrm>
          <a:custGeom>
            <a:avLst/>
            <a:gdLst/>
            <a:ahLst/>
            <a:cxnLst/>
            <a:rect l="l" t="t" r="r" b="b"/>
            <a:pathLst>
              <a:path w="378817" h="195560">
                <a:moveTo>
                  <a:pt x="31750" y="0"/>
                </a:moveTo>
                <a:lnTo>
                  <a:pt x="347067" y="0"/>
                </a:lnTo>
                <a:arcTo wR="31750" hR="31750" stAng="16200000" swAng="5400000"/>
                <a:lnTo>
                  <a:pt x="378817"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OUT</a:t>
            </a:r>
            <a:endParaRPr lang="en-US" sz="1100" dirty="0"/>
          </a:p>
        </p:txBody>
      </p:sp>
      <p:sp>
        <p:nvSpPr>
          <p:cNvPr id="64" name="Text 62"/>
          <p:cNvSpPr/>
          <p:nvPr/>
        </p:nvSpPr>
        <p:spPr>
          <a:xfrm>
            <a:off x="6658967" y="5391547"/>
            <a:ext cx="472023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devuelve cuántos juegos cambió, para confirmar que se aplicó.</a:t>
            </a:r>
            <a:endParaRPr lang="en-US" sz="1200" dirty="0"/>
          </a:p>
        </p:txBody>
      </p:sp>
      <p:sp>
        <p:nvSpPr>
          <p:cNvPr id="65" name="Text 6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3FE0EA"/>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B3672"/>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B3672"/>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51123"/>
          </a:xfrm>
          <a:prstGeom prst="rect">
            <a:avLst/>
          </a:prstGeom>
          <a:noFill/>
          <a:ln/>
        </p:spPr>
        <p:txBody>
          <a:bodyPr wrap="square" lIns="0" tIns="0" rIns="0" bIns="0" rtlCol="0" anchor="t">
            <a:normAutofit/>
          </a:bodyPr>
          <a:lstStyle/>
          <a:p>
            <a:pPr marL="0" indent="0" algn="l">
              <a:lnSpc>
                <a:spcPts val="1819"/>
              </a:lnSpc>
              <a:buNone/>
            </a:pPr>
            <a:r>
              <a:rPr lang="en-US" sz="1299" b="1" kern="0" spc="150" dirty="0">
                <a:solidFill>
                  <a:srgbClr val="3FE0EA"/>
                </a:solidFill>
                <a:latin typeface="Chakra Petch" pitchFamily="34" charset="0"/>
                <a:ea typeface="Chakra Petch" pitchFamily="34" charset="-122"/>
                <a:cs typeface="Chakra Petch" pitchFamily="34" charset="-120"/>
              </a:rPr>
              <a:t>FLUJO 2 · VENTA</a:t>
            </a:r>
            <a:endParaRPr lang="en-US" sz="1299" dirty="0"/>
          </a:p>
        </p:txBody>
      </p:sp>
      <p:sp>
        <p:nvSpPr>
          <p:cNvPr id="21" name="Text 19"/>
          <p:cNvSpPr>
            <a:spLocks noGrp="1"/>
          </p:cNvSpPr>
          <p:nvPr>
            <p:ph type="title"/>
          </p:nvPr>
        </p:nvSpPr>
        <p:spPr>
          <a:xfrm>
            <a:off x="812800" y="1140123"/>
            <a:ext cx="10883392" cy="430709"/>
          </a:xfrm>
          <a:prstGeom prst="rect">
            <a:avLst/>
          </a:prstGeom>
          <a:noFill/>
          <a:ln/>
        </p:spPr>
        <p:txBody>
          <a:bodyPr wrap="square" lIns="0" tIns="0" rIns="0" bIns="0" rtlCol="0" anchor="t">
            <a:normAutofit/>
          </a:bodyPr>
          <a:lstStyle/>
          <a:p>
            <a:pPr marL="0" indent="0" algn="l">
              <a:lnSpc>
                <a:spcPts val="3223"/>
              </a:lnSpc>
              <a:buNone/>
            </a:pPr>
            <a:r>
              <a:rPr lang="en-US" sz="2930" b="1" i="0" dirty="0">
                <a:solidFill>
                  <a:srgbClr val="EEF2FF"/>
                </a:solidFill>
                <a:latin typeface="Chakra Petch" pitchFamily="34" charset="0"/>
                <a:ea typeface="Chakra Petch" pitchFamily="34" charset="-122"/>
                <a:cs typeface="Chakra Petch" pitchFamily="34" charset="-120"/>
              </a:rPr>
              <a:t>Del cliente al stock en 7 pasos</a:t>
            </a:r>
            <a:endParaRPr lang="en-US" sz="2930" dirty="0"/>
          </a:p>
        </p:txBody>
      </p:sp>
      <p:sp>
        <p:nvSpPr>
          <p:cNvPr id="22" name="Text 20"/>
          <p:cNvSpPr/>
          <p:nvPr/>
        </p:nvSpPr>
        <p:spPr>
          <a:xfrm>
            <a:off x="812800" y="1719163"/>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1</a:t>
            </a:r>
            <a:endParaRPr lang="en-US" sz="1200" dirty="0"/>
          </a:p>
        </p:txBody>
      </p:sp>
      <p:sp>
        <p:nvSpPr>
          <p:cNvPr id="23" name="Text 21"/>
          <p:cNvSpPr/>
          <p:nvPr/>
        </p:nvSpPr>
        <p:spPr>
          <a:xfrm>
            <a:off x="1231900" y="162401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cliente elige un juego y el vendedor lo vende</a:t>
            </a:r>
            <a:endParaRPr lang="en-US" sz="1300" dirty="0"/>
          </a:p>
        </p:txBody>
      </p:sp>
      <p:sp>
        <p:nvSpPr>
          <p:cNvPr id="24" name="Text 22"/>
          <p:cNvSpPr/>
          <p:nvPr/>
        </p:nvSpPr>
        <p:spPr>
          <a:xfrm>
            <a:off x="1231900" y="1893193"/>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25" name="Text 23"/>
          <p:cNvSpPr/>
          <p:nvPr/>
        </p:nvSpPr>
        <p:spPr>
          <a:xfrm>
            <a:off x="2609155" y="1893193"/>
            <a:ext cx="16180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pkg_ventas.vender</a:t>
            </a:r>
            <a:endParaRPr lang="en-US" sz="1200" dirty="0"/>
          </a:p>
        </p:txBody>
      </p:sp>
      <p:sp>
        <p:nvSpPr>
          <p:cNvPr id="26" name="Text 24"/>
          <p:cNvSpPr/>
          <p:nvPr/>
        </p:nvSpPr>
        <p:spPr>
          <a:xfrm>
            <a:off x="4233565" y="1886843"/>
            <a:ext cx="1888430"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3FE0EA"/>
                </a:solidFill>
                <a:latin typeface="DM Sans" pitchFamily="34" charset="0"/>
                <a:ea typeface="DM Sans" pitchFamily="34" charset="-122"/>
                <a:cs typeface="DM Sans" pitchFamily="34" charset="-120"/>
              </a:rPr>
              <a:t>con parámetros IN / OUT</a:t>
            </a:r>
            <a:endParaRPr lang="en-US" sz="1200" dirty="0"/>
          </a:p>
        </p:txBody>
      </p:sp>
      <p:sp>
        <p:nvSpPr>
          <p:cNvPr id="27" name="Shape 25"/>
          <p:cNvSpPr/>
          <p:nvPr/>
        </p:nvSpPr>
        <p:spPr>
          <a:xfrm>
            <a:off x="952500" y="2096195"/>
            <a:ext cx="25400" cy="38100"/>
          </a:xfrm>
          <a:prstGeom prst="rect">
            <a:avLst/>
          </a:prstGeom>
          <a:solidFill>
            <a:srgbClr val="2B3672"/>
          </a:solidFill>
          <a:ln/>
        </p:spPr>
      </p:sp>
      <p:sp>
        <p:nvSpPr>
          <p:cNvPr id="28" name="Text 26"/>
          <p:cNvSpPr/>
          <p:nvPr/>
        </p:nvSpPr>
        <p:spPr>
          <a:xfrm>
            <a:off x="812800" y="2202855"/>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2</a:t>
            </a:r>
            <a:endParaRPr lang="en-US" sz="1200" dirty="0"/>
          </a:p>
        </p:txBody>
      </p:sp>
      <p:sp>
        <p:nvSpPr>
          <p:cNvPr id="29" name="Text 27"/>
          <p:cNvSpPr/>
          <p:nvPr/>
        </p:nvSpPr>
        <p:spPr>
          <a:xfrm>
            <a:off x="1231900" y="2107704"/>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busca el precio de lista: nadie lo escribe a mano</a:t>
            </a:r>
            <a:endParaRPr lang="en-US" sz="1300" dirty="0"/>
          </a:p>
        </p:txBody>
      </p:sp>
      <p:sp>
        <p:nvSpPr>
          <p:cNvPr id="30" name="Text 28"/>
          <p:cNvSpPr/>
          <p:nvPr/>
        </p:nvSpPr>
        <p:spPr>
          <a:xfrm>
            <a:off x="1231900" y="2376884"/>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31" name="Text 29"/>
          <p:cNvSpPr/>
          <p:nvPr/>
        </p:nvSpPr>
        <p:spPr>
          <a:xfrm>
            <a:off x="2069108" y="2376884"/>
            <a:ext cx="1892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fn_precio_videojuego</a:t>
            </a:r>
            <a:endParaRPr lang="en-US" sz="1200" dirty="0"/>
          </a:p>
        </p:txBody>
      </p:sp>
      <p:sp>
        <p:nvSpPr>
          <p:cNvPr id="32" name="Text 30"/>
          <p:cNvSpPr/>
          <p:nvPr/>
        </p:nvSpPr>
        <p:spPr>
          <a:xfrm>
            <a:off x="3967758" y="2370534"/>
            <a:ext cx="2492970"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E7C1FF"/>
                </a:solidFill>
                <a:latin typeface="DM Sans" pitchFamily="34" charset="0"/>
                <a:ea typeface="DM Sans" pitchFamily="34" charset="-122"/>
                <a:cs typeface="DM Sans" pitchFamily="34" charset="-120"/>
              </a:rPr>
              <a:t>con parámetro · usada en PL/SQL</a:t>
            </a:r>
            <a:endParaRPr lang="en-US" sz="1200" dirty="0"/>
          </a:p>
        </p:txBody>
      </p:sp>
      <p:sp>
        <p:nvSpPr>
          <p:cNvPr id="33" name="Shape 31"/>
          <p:cNvSpPr/>
          <p:nvPr/>
        </p:nvSpPr>
        <p:spPr>
          <a:xfrm>
            <a:off x="952500" y="2579886"/>
            <a:ext cx="25400" cy="38100"/>
          </a:xfrm>
          <a:prstGeom prst="rect">
            <a:avLst/>
          </a:prstGeom>
          <a:solidFill>
            <a:srgbClr val="2B3672"/>
          </a:solidFill>
          <a:ln/>
        </p:spPr>
      </p:sp>
      <p:sp>
        <p:nvSpPr>
          <p:cNvPr id="34" name="Text 32"/>
          <p:cNvSpPr/>
          <p:nvPr/>
        </p:nvSpPr>
        <p:spPr>
          <a:xfrm>
            <a:off x="812800" y="2675037"/>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3</a:t>
            </a:r>
            <a:endParaRPr lang="en-US" sz="1200" dirty="0"/>
          </a:p>
        </p:txBody>
      </p:sp>
      <p:sp>
        <p:nvSpPr>
          <p:cNvPr id="35" name="Text 33"/>
          <p:cNvSpPr/>
          <p:nvPr/>
        </p:nvSpPr>
        <p:spPr>
          <a:xfrm>
            <a:off x="1231900" y="2592586"/>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valida, se bloquea el juego y baja el stock</a:t>
            </a:r>
            <a:endParaRPr lang="en-US" sz="1300" dirty="0"/>
          </a:p>
        </p:txBody>
      </p:sp>
      <p:sp>
        <p:nvSpPr>
          <p:cNvPr id="36" name="Text 34"/>
          <p:cNvSpPr/>
          <p:nvPr/>
        </p:nvSpPr>
        <p:spPr>
          <a:xfrm>
            <a:off x="1231900" y="2849066"/>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37" name="Text 35"/>
          <p:cNvSpPr/>
          <p:nvPr/>
        </p:nvSpPr>
        <p:spPr>
          <a:xfrm>
            <a:off x="2609155" y="2849066"/>
            <a:ext cx="34016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pr_registrar_venta → pkg_tienda</a:t>
            </a:r>
            <a:endParaRPr lang="en-US" sz="1200" dirty="0"/>
          </a:p>
        </p:txBody>
      </p:sp>
      <p:sp>
        <p:nvSpPr>
          <p:cNvPr id="38" name="Shape 36"/>
          <p:cNvSpPr/>
          <p:nvPr/>
        </p:nvSpPr>
        <p:spPr>
          <a:xfrm>
            <a:off x="952500" y="3040559"/>
            <a:ext cx="25400" cy="38100"/>
          </a:xfrm>
          <a:prstGeom prst="rect">
            <a:avLst/>
          </a:prstGeom>
          <a:solidFill>
            <a:srgbClr val="2B3672"/>
          </a:solidFill>
          <a:ln/>
        </p:spPr>
      </p:sp>
      <p:sp>
        <p:nvSpPr>
          <p:cNvPr id="39" name="Text 37"/>
          <p:cNvSpPr/>
          <p:nvPr/>
        </p:nvSpPr>
        <p:spPr>
          <a:xfrm>
            <a:off x="812800" y="3147219"/>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4</a:t>
            </a:r>
            <a:endParaRPr lang="en-US" sz="1200" dirty="0"/>
          </a:p>
        </p:txBody>
      </p:sp>
      <p:sp>
        <p:nvSpPr>
          <p:cNvPr id="40" name="Text 38"/>
          <p:cNvSpPr/>
          <p:nvPr/>
        </p:nvSpPr>
        <p:spPr>
          <a:xfrm>
            <a:off x="1231900" y="3052068"/>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Queda registrado el stock de antes y de después</a:t>
            </a:r>
            <a:endParaRPr lang="en-US" sz="1300" dirty="0"/>
          </a:p>
        </p:txBody>
      </p:sp>
      <p:sp>
        <p:nvSpPr>
          <p:cNvPr id="41" name="Text 39"/>
          <p:cNvSpPr/>
          <p:nvPr/>
        </p:nvSpPr>
        <p:spPr>
          <a:xfrm>
            <a:off x="1231900" y="3321248"/>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42" name="Text 40"/>
          <p:cNvSpPr/>
          <p:nvPr/>
        </p:nvSpPr>
        <p:spPr>
          <a:xfrm>
            <a:off x="2048768" y="3321248"/>
            <a:ext cx="1800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trg_auditoria_stock</a:t>
            </a:r>
            <a:endParaRPr lang="en-US" sz="1200" dirty="0"/>
          </a:p>
        </p:txBody>
      </p:sp>
      <p:sp>
        <p:nvSpPr>
          <p:cNvPr id="43" name="Text 41"/>
          <p:cNvSpPr/>
          <p:nvPr/>
        </p:nvSpPr>
        <p:spPr>
          <a:xfrm>
            <a:off x="3856038" y="3314898"/>
            <a:ext cx="1703388"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FF6FAE"/>
                </a:solidFill>
                <a:latin typeface="DM Sans" pitchFamily="34" charset="0"/>
                <a:ea typeface="DM Sans" pitchFamily="34" charset="-122"/>
                <a:cs typeface="DM Sans" pitchFamily="34" charset="-120"/>
              </a:rPr>
              <a:t>de fila · 1 vez por juego</a:t>
            </a:r>
            <a:endParaRPr lang="en-US" sz="1200" dirty="0"/>
          </a:p>
        </p:txBody>
      </p:sp>
      <p:sp>
        <p:nvSpPr>
          <p:cNvPr id="44" name="Shape 42"/>
          <p:cNvSpPr/>
          <p:nvPr/>
        </p:nvSpPr>
        <p:spPr>
          <a:xfrm>
            <a:off x="952500" y="3524250"/>
            <a:ext cx="25400" cy="38100"/>
          </a:xfrm>
          <a:prstGeom prst="rect">
            <a:avLst/>
          </a:prstGeom>
          <a:solidFill>
            <a:srgbClr val="2B3672"/>
          </a:solidFill>
          <a:ln/>
        </p:spPr>
      </p:sp>
      <p:sp>
        <p:nvSpPr>
          <p:cNvPr id="45" name="Text 43"/>
          <p:cNvSpPr/>
          <p:nvPr/>
        </p:nvSpPr>
        <p:spPr>
          <a:xfrm>
            <a:off x="812800" y="3630910"/>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5</a:t>
            </a:r>
            <a:endParaRPr lang="en-US" sz="1200" dirty="0"/>
          </a:p>
        </p:txBody>
      </p:sp>
      <p:sp>
        <p:nvSpPr>
          <p:cNvPr id="46" name="Text 44"/>
          <p:cNvSpPr/>
          <p:nvPr/>
        </p:nvSpPr>
        <p:spPr>
          <a:xfrm>
            <a:off x="1231900" y="3535759"/>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Si quedó bajo el mínimo, se abre una alerta</a:t>
            </a:r>
            <a:endParaRPr lang="en-US" sz="1300" dirty="0"/>
          </a:p>
        </p:txBody>
      </p:sp>
      <p:sp>
        <p:nvSpPr>
          <p:cNvPr id="47" name="Text 45"/>
          <p:cNvSpPr/>
          <p:nvPr/>
        </p:nvSpPr>
        <p:spPr>
          <a:xfrm>
            <a:off x="1231900" y="3804940"/>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48" name="Text 46"/>
          <p:cNvSpPr/>
          <p:nvPr/>
        </p:nvSpPr>
        <p:spPr>
          <a:xfrm>
            <a:off x="2048768" y="3804940"/>
            <a:ext cx="1983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trg_alerta_reposicion</a:t>
            </a:r>
            <a:endParaRPr lang="en-US" sz="1200" dirty="0"/>
          </a:p>
        </p:txBody>
      </p:sp>
      <p:sp>
        <p:nvSpPr>
          <p:cNvPr id="49" name="Text 47"/>
          <p:cNvSpPr/>
          <p:nvPr/>
        </p:nvSpPr>
        <p:spPr>
          <a:xfrm>
            <a:off x="4038898" y="3798590"/>
            <a:ext cx="1703388"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FF6FAE"/>
                </a:solidFill>
                <a:latin typeface="DM Sans" pitchFamily="34" charset="0"/>
                <a:ea typeface="DM Sans" pitchFamily="34" charset="-122"/>
                <a:cs typeface="DM Sans" pitchFamily="34" charset="-120"/>
              </a:rPr>
              <a:t>de fila · 1 vez por juego</a:t>
            </a:r>
            <a:endParaRPr lang="en-US" sz="1200" dirty="0"/>
          </a:p>
        </p:txBody>
      </p:sp>
      <p:sp>
        <p:nvSpPr>
          <p:cNvPr id="50" name="Shape 48"/>
          <p:cNvSpPr/>
          <p:nvPr/>
        </p:nvSpPr>
        <p:spPr>
          <a:xfrm>
            <a:off x="952500" y="4007941"/>
            <a:ext cx="25400" cy="38100"/>
          </a:xfrm>
          <a:prstGeom prst="rect">
            <a:avLst/>
          </a:prstGeom>
          <a:solidFill>
            <a:srgbClr val="2B3672"/>
          </a:solidFill>
          <a:ln/>
        </p:spPr>
      </p:sp>
      <p:sp>
        <p:nvSpPr>
          <p:cNvPr id="51" name="Text 49"/>
          <p:cNvSpPr/>
          <p:nvPr/>
        </p:nvSpPr>
        <p:spPr>
          <a:xfrm>
            <a:off x="812800" y="4114602"/>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6</a:t>
            </a:r>
            <a:endParaRPr lang="en-US" sz="1200" dirty="0"/>
          </a:p>
        </p:txBody>
      </p:sp>
      <p:sp>
        <p:nvSpPr>
          <p:cNvPr id="52" name="Text 50"/>
          <p:cNvSpPr/>
          <p:nvPr/>
        </p:nvSpPr>
        <p:spPr>
          <a:xfrm>
            <a:off x="1231900" y="401945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guarda la venta: fecha revisada y operación auditada</a:t>
            </a:r>
            <a:endParaRPr lang="en-US" sz="1300" dirty="0"/>
          </a:p>
        </p:txBody>
      </p:sp>
      <p:sp>
        <p:nvSpPr>
          <p:cNvPr id="53" name="Text 51"/>
          <p:cNvSpPr/>
          <p:nvPr/>
        </p:nvSpPr>
        <p:spPr>
          <a:xfrm>
            <a:off x="1231900" y="4288631"/>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54" name="Text 52"/>
          <p:cNvSpPr/>
          <p:nvPr/>
        </p:nvSpPr>
        <p:spPr>
          <a:xfrm>
            <a:off x="2048768" y="4288631"/>
            <a:ext cx="2166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trg_venta_validar_fecha</a:t>
            </a:r>
            <a:endParaRPr lang="en-US" sz="1200" dirty="0"/>
          </a:p>
        </p:txBody>
      </p:sp>
      <p:sp>
        <p:nvSpPr>
          <p:cNvPr id="55" name="Text 53"/>
          <p:cNvSpPr/>
          <p:nvPr/>
        </p:nvSpPr>
        <p:spPr>
          <a:xfrm>
            <a:off x="4221758" y="4282281"/>
            <a:ext cx="565051"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FF6FAE"/>
                </a:solidFill>
                <a:latin typeface="DM Sans" pitchFamily="34" charset="0"/>
                <a:ea typeface="DM Sans" pitchFamily="34" charset="-122"/>
                <a:cs typeface="DM Sans" pitchFamily="34" charset="-120"/>
              </a:rPr>
              <a:t>de fila</a:t>
            </a:r>
            <a:endParaRPr lang="en-US" sz="1200" dirty="0"/>
          </a:p>
        </p:txBody>
      </p:sp>
      <p:sp>
        <p:nvSpPr>
          <p:cNvPr id="56" name="Text 54"/>
          <p:cNvSpPr/>
          <p:nvPr/>
        </p:nvSpPr>
        <p:spPr>
          <a:xfrm>
            <a:off x="4856659" y="4288631"/>
            <a:ext cx="1983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 trg_venta_sentencia</a:t>
            </a:r>
            <a:endParaRPr lang="en-US" sz="1200" dirty="0"/>
          </a:p>
        </p:txBody>
      </p:sp>
      <p:sp>
        <p:nvSpPr>
          <p:cNvPr id="57" name="Text 55"/>
          <p:cNvSpPr/>
          <p:nvPr/>
        </p:nvSpPr>
        <p:spPr>
          <a:xfrm>
            <a:off x="6846788" y="4282281"/>
            <a:ext cx="2519958"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FF6FAE"/>
                </a:solidFill>
                <a:latin typeface="DM Sans" pitchFamily="34" charset="0"/>
                <a:ea typeface="DM Sans" pitchFamily="34" charset="-122"/>
                <a:cs typeface="DM Sans" pitchFamily="34" charset="-120"/>
              </a:rPr>
              <a:t>de sentencia · 1 vez por operación</a:t>
            </a:r>
            <a:endParaRPr lang="en-US" sz="1200" dirty="0"/>
          </a:p>
        </p:txBody>
      </p:sp>
      <p:sp>
        <p:nvSpPr>
          <p:cNvPr id="58" name="Shape 56"/>
          <p:cNvSpPr/>
          <p:nvPr/>
        </p:nvSpPr>
        <p:spPr>
          <a:xfrm>
            <a:off x="952500" y="4491633"/>
            <a:ext cx="25400" cy="38100"/>
          </a:xfrm>
          <a:prstGeom prst="rect">
            <a:avLst/>
          </a:prstGeom>
          <a:solidFill>
            <a:srgbClr val="2B3672"/>
          </a:solidFill>
          <a:ln/>
        </p:spPr>
      </p:sp>
      <p:sp>
        <p:nvSpPr>
          <p:cNvPr id="59" name="Text 57"/>
          <p:cNvSpPr/>
          <p:nvPr/>
        </p:nvSpPr>
        <p:spPr>
          <a:xfrm>
            <a:off x="812800" y="4586784"/>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7</a:t>
            </a:r>
            <a:endParaRPr lang="en-US" sz="1200" dirty="0"/>
          </a:p>
        </p:txBody>
      </p:sp>
      <p:sp>
        <p:nvSpPr>
          <p:cNvPr id="60" name="Text 58"/>
          <p:cNvSpPr/>
          <p:nvPr/>
        </p:nvSpPr>
        <p:spPr>
          <a:xfrm>
            <a:off x="1231900" y="450433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¿Lleva otro juego? Se suma a la misma venta</a:t>
            </a:r>
            <a:endParaRPr lang="en-US" sz="1300" dirty="0"/>
          </a:p>
        </p:txBody>
      </p:sp>
      <p:sp>
        <p:nvSpPr>
          <p:cNvPr id="61" name="Text 59"/>
          <p:cNvSpPr/>
          <p:nvPr/>
        </p:nvSpPr>
        <p:spPr>
          <a:xfrm>
            <a:off x="1231900" y="4760813"/>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62" name="Text 60"/>
          <p:cNvSpPr/>
          <p:nvPr/>
        </p:nvSpPr>
        <p:spPr>
          <a:xfrm>
            <a:off x="2609155" y="4760813"/>
            <a:ext cx="29627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pkg_ventas.agregar_producto</a:t>
            </a:r>
            <a:endParaRPr lang="en-US" sz="1200" dirty="0"/>
          </a:p>
        </p:txBody>
      </p:sp>
      <p:sp>
        <p:nvSpPr>
          <p:cNvPr id="63" name="Shape 61"/>
          <p:cNvSpPr/>
          <p:nvPr/>
        </p:nvSpPr>
        <p:spPr>
          <a:xfrm>
            <a:off x="812800" y="5053905"/>
            <a:ext cx="10566400" cy="788095"/>
          </a:xfrm>
          <a:prstGeom prst="roundRect">
            <a:avLst>
              <a:gd name="adj" fmla="val 8057"/>
            </a:avLst>
          </a:prstGeom>
          <a:solidFill>
            <a:srgbClr val="1B2352"/>
          </a:solidFill>
          <a:ln/>
        </p:spPr>
      </p:sp>
      <p:sp>
        <p:nvSpPr>
          <p:cNvPr id="64" name="Shape 62"/>
          <p:cNvSpPr/>
          <p:nvPr/>
        </p:nvSpPr>
        <p:spPr>
          <a:xfrm>
            <a:off x="812800" y="5053905"/>
            <a:ext cx="10566400" cy="788095"/>
          </a:xfrm>
          <a:custGeom>
            <a:avLst/>
            <a:gdLst/>
            <a:ahLst/>
            <a:cxnLst/>
            <a:rect l="l" t="t" r="r" b="b"/>
            <a:pathLst>
              <a:path w="10566400" h="788095">
                <a:moveTo>
                  <a:pt x="63500" y="788095"/>
                </a:moveTo>
                <a:lnTo>
                  <a:pt x="63500" y="788095"/>
                </a:lnTo>
                <a:arcTo wR="63500" hR="63500" stAng="5400000" swAng="5400000"/>
                <a:lnTo>
                  <a:pt x="0" y="63500"/>
                </a:lnTo>
                <a:arcTo wR="63500" hR="63500" stAng="10800000" swAng="5400000"/>
                <a:lnTo>
                  <a:pt x="63500" y="0"/>
                </a:lnTo>
                <a:arcTo wR="25400" hR="63500" stAng="16200000" swAng="-5400000"/>
                <a:lnTo>
                  <a:pt x="38100" y="724595"/>
                </a:lnTo>
                <a:arcTo wR="25400" hR="63500" stAng="10800000" swAng="-5400000"/>
                <a:close/>
              </a:path>
            </a:pathLst>
          </a:custGeom>
          <a:solidFill>
            <a:srgbClr val="FF6FAE"/>
          </a:solidFill>
          <a:ln/>
        </p:spPr>
      </p:sp>
      <p:sp>
        <p:nvSpPr>
          <p:cNvPr id="65" name="Text 63"/>
          <p:cNvSpPr/>
          <p:nvPr/>
        </p:nvSpPr>
        <p:spPr>
          <a:xfrm>
            <a:off x="990600" y="5142805"/>
            <a:ext cx="10556367" cy="216793"/>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FF6FAE"/>
                </a:solidFill>
                <a:latin typeface="Chakra Petch" pitchFamily="34" charset="0"/>
                <a:ea typeface="Chakra Petch" pitchFamily="34" charset="-122"/>
                <a:cs typeface="Chakra Petch" pitchFamily="34" charset="-120"/>
              </a:rPr>
              <a:t>¿Qué es un trigger de fila y uno de sentencia?</a:t>
            </a:r>
            <a:endParaRPr lang="en-US" sz="1088" dirty="0"/>
          </a:p>
        </p:txBody>
      </p:sp>
      <p:sp>
        <p:nvSpPr>
          <p:cNvPr id="66" name="Text 64"/>
          <p:cNvSpPr/>
          <p:nvPr/>
        </p:nvSpPr>
        <p:spPr>
          <a:xfrm>
            <a:off x="990600" y="5410398"/>
            <a:ext cx="608013" cy="195560"/>
          </a:xfrm>
          <a:custGeom>
            <a:avLst/>
            <a:gdLst/>
            <a:ahLst/>
            <a:cxnLst/>
            <a:rect l="l" t="t" r="r" b="b"/>
            <a:pathLst>
              <a:path w="608013" h="195560">
                <a:moveTo>
                  <a:pt x="31750" y="0"/>
                </a:moveTo>
                <a:lnTo>
                  <a:pt x="576263" y="0"/>
                </a:lnTo>
                <a:arcTo wR="31750" hR="31750" stAng="16200000" swAng="5400000"/>
                <a:lnTo>
                  <a:pt x="608013" y="163810"/>
                </a:lnTo>
                <a:arcTo wR="31750" hR="31750" stAng="0" swAng="5400000"/>
                <a:lnTo>
                  <a:pt x="31750" y="195560"/>
                </a:lnTo>
                <a:arcTo wR="31750" hR="31750" stAng="5400000" swAng="5400000"/>
                <a:lnTo>
                  <a:pt x="0" y="31750"/>
                </a:lnTo>
                <a:arcTo wR="31750" hR="31750" stAng="10800000" swAng="5400000"/>
                <a:close/>
              </a:path>
            </a:pathLst>
          </a:custGeom>
          <a:solidFill>
            <a:srgbClr val="FF6FAE"/>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DE FILA</a:t>
            </a:r>
            <a:endParaRPr lang="en-US" sz="1100" dirty="0"/>
          </a:p>
        </p:txBody>
      </p:sp>
      <p:sp>
        <p:nvSpPr>
          <p:cNvPr id="67" name="Text 65"/>
          <p:cNvSpPr/>
          <p:nvPr/>
        </p:nvSpPr>
        <p:spPr>
          <a:xfrm>
            <a:off x="1674813" y="5397698"/>
            <a:ext cx="4481878"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se ejecuta 1 vez por cada fila que cambia y puede ver su valor de antes y después (:OLD / :NEW).</a:t>
            </a:r>
            <a:endParaRPr lang="en-US" sz="1200" dirty="0"/>
          </a:p>
        </p:txBody>
      </p:sp>
      <p:sp>
        <p:nvSpPr>
          <p:cNvPr id="68" name="Text 66"/>
          <p:cNvSpPr/>
          <p:nvPr/>
        </p:nvSpPr>
        <p:spPr>
          <a:xfrm>
            <a:off x="6203950" y="5410398"/>
            <a:ext cx="1075333" cy="195560"/>
          </a:xfrm>
          <a:custGeom>
            <a:avLst/>
            <a:gdLst/>
            <a:ahLst/>
            <a:cxnLst/>
            <a:rect l="l" t="t" r="r" b="b"/>
            <a:pathLst>
              <a:path w="1075333" h="195560">
                <a:moveTo>
                  <a:pt x="31750" y="0"/>
                </a:moveTo>
                <a:lnTo>
                  <a:pt x="1043583" y="0"/>
                </a:lnTo>
                <a:arcTo wR="31750" hR="31750" stAng="16200000" swAng="5400000"/>
                <a:lnTo>
                  <a:pt x="1075333"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DE SENTENCIA</a:t>
            </a:r>
            <a:endParaRPr lang="en-US" sz="1100" dirty="0"/>
          </a:p>
        </p:txBody>
      </p:sp>
      <p:sp>
        <p:nvSpPr>
          <p:cNvPr id="69" name="Text 67"/>
          <p:cNvSpPr/>
          <p:nvPr/>
        </p:nvSpPr>
        <p:spPr>
          <a:xfrm>
            <a:off x="7355483" y="5397698"/>
            <a:ext cx="4000538"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se ejecuta 1 sola vez por cada INSERT, UPDATE o DELETE, sin importar cuántas filas cambien.</a:t>
            </a:r>
            <a:endParaRPr lang="en-US" sz="1200" dirty="0"/>
          </a:p>
        </p:txBody>
      </p:sp>
      <p:sp>
        <p:nvSpPr>
          <p:cNvPr id="70" name="Text 6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A4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3FE0EA"/>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B3672"/>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6FAE"/>
                </a:solidFill>
                <a:latin typeface="Chakra Petch" pitchFamily="34" charset="0"/>
                <a:ea typeface="Chakra Petch" pitchFamily="34" charset="-122"/>
                <a:cs typeface="Chakra Petch" pitchFamily="34" charset="-120"/>
              </a:rPr>
              <a:t>FLUJO 3 · ANULACIÓN</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Corregir un error sin descuadrar</a:t>
            </a:r>
            <a:endParaRPr lang="en-US" sz="3200" dirty="0"/>
          </a:p>
        </p:txBody>
      </p:sp>
      <p:sp>
        <p:nvSpPr>
          <p:cNvPr id="22" name="Text 20"/>
          <p:cNvSpPr/>
          <p:nvPr/>
        </p:nvSpPr>
        <p:spPr>
          <a:xfrm>
            <a:off x="812800" y="1895872"/>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1</a:t>
            </a:r>
            <a:endParaRPr lang="en-US" sz="1200" dirty="0"/>
          </a:p>
        </p:txBody>
      </p:sp>
      <p:sp>
        <p:nvSpPr>
          <p:cNvPr id="23" name="Text 21"/>
          <p:cNvSpPr/>
          <p:nvPr/>
        </p:nvSpPr>
        <p:spPr>
          <a:xfrm>
            <a:off x="1231900" y="181342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vendedor detecta un error y anula la venta</a:t>
            </a:r>
            <a:endParaRPr lang="en-US" sz="1300" dirty="0"/>
          </a:p>
        </p:txBody>
      </p:sp>
      <p:sp>
        <p:nvSpPr>
          <p:cNvPr id="24" name="Text 22"/>
          <p:cNvSpPr/>
          <p:nvPr/>
        </p:nvSpPr>
        <p:spPr>
          <a:xfrm>
            <a:off x="1231900" y="2069902"/>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25" name="Text 23"/>
          <p:cNvSpPr/>
          <p:nvPr/>
        </p:nvSpPr>
        <p:spPr>
          <a:xfrm>
            <a:off x="2609155" y="2069902"/>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pkg_ventas.anular_venta</a:t>
            </a:r>
            <a:endParaRPr lang="en-US" sz="1200" dirty="0"/>
          </a:p>
        </p:txBody>
      </p:sp>
      <p:sp>
        <p:nvSpPr>
          <p:cNvPr id="26" name="Shape 24"/>
          <p:cNvSpPr/>
          <p:nvPr/>
        </p:nvSpPr>
        <p:spPr>
          <a:xfrm>
            <a:off x="952500" y="2283222"/>
            <a:ext cx="25400" cy="63500"/>
          </a:xfrm>
          <a:prstGeom prst="rect">
            <a:avLst/>
          </a:prstGeom>
          <a:solidFill>
            <a:srgbClr val="2B3672"/>
          </a:solidFill>
          <a:ln/>
        </p:spPr>
      </p:sp>
      <p:sp>
        <p:nvSpPr>
          <p:cNvPr id="27" name="Text 25"/>
          <p:cNvSpPr/>
          <p:nvPr/>
        </p:nvSpPr>
        <p:spPr>
          <a:xfrm>
            <a:off x="812800" y="2429173"/>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2</a:t>
            </a:r>
            <a:endParaRPr lang="en-US" sz="1200" dirty="0"/>
          </a:p>
        </p:txBody>
      </p:sp>
      <p:sp>
        <p:nvSpPr>
          <p:cNvPr id="28" name="Text 26"/>
          <p:cNvSpPr/>
          <p:nvPr/>
        </p:nvSpPr>
        <p:spPr>
          <a:xfrm>
            <a:off x="1231900" y="2346722"/>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calcula cuánto se devuelve</a:t>
            </a:r>
            <a:endParaRPr lang="en-US" sz="1300" dirty="0"/>
          </a:p>
        </p:txBody>
      </p:sp>
      <p:sp>
        <p:nvSpPr>
          <p:cNvPr id="29" name="Text 27"/>
          <p:cNvSpPr/>
          <p:nvPr/>
        </p:nvSpPr>
        <p:spPr>
          <a:xfrm>
            <a:off x="1231900" y="2603202"/>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30" name="Text 28"/>
          <p:cNvSpPr/>
          <p:nvPr/>
        </p:nvSpPr>
        <p:spPr>
          <a:xfrm>
            <a:off x="2069108" y="2603202"/>
            <a:ext cx="24141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pkg_ventas.total_venta</a:t>
            </a:r>
            <a:endParaRPr lang="en-US" sz="1200" dirty="0"/>
          </a:p>
        </p:txBody>
      </p:sp>
      <p:sp>
        <p:nvSpPr>
          <p:cNvPr id="31" name="Shape 29"/>
          <p:cNvSpPr/>
          <p:nvPr/>
        </p:nvSpPr>
        <p:spPr>
          <a:xfrm>
            <a:off x="952500" y="2816523"/>
            <a:ext cx="25400" cy="63500"/>
          </a:xfrm>
          <a:prstGeom prst="rect">
            <a:avLst/>
          </a:prstGeom>
          <a:solidFill>
            <a:srgbClr val="2B3672"/>
          </a:solidFill>
          <a:ln/>
        </p:spPr>
      </p:sp>
      <p:sp>
        <p:nvSpPr>
          <p:cNvPr id="32" name="Text 30"/>
          <p:cNvSpPr/>
          <p:nvPr/>
        </p:nvSpPr>
        <p:spPr>
          <a:xfrm>
            <a:off x="812800" y="2962473"/>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3</a:t>
            </a:r>
            <a:endParaRPr lang="en-US" sz="1200" dirty="0"/>
          </a:p>
        </p:txBody>
      </p:sp>
      <p:sp>
        <p:nvSpPr>
          <p:cNvPr id="33" name="Text 31"/>
          <p:cNvSpPr/>
          <p:nvPr/>
        </p:nvSpPr>
        <p:spPr>
          <a:xfrm>
            <a:off x="1231900" y="28800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Cada juego vuelve al stock y queda auditado</a:t>
            </a:r>
            <a:endParaRPr lang="en-US" sz="1300" dirty="0"/>
          </a:p>
        </p:txBody>
      </p:sp>
      <p:sp>
        <p:nvSpPr>
          <p:cNvPr id="34" name="Text 32"/>
          <p:cNvSpPr/>
          <p:nvPr/>
        </p:nvSpPr>
        <p:spPr>
          <a:xfrm>
            <a:off x="1231900" y="3136503"/>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35" name="Text 33"/>
          <p:cNvSpPr/>
          <p:nvPr/>
        </p:nvSpPr>
        <p:spPr>
          <a:xfrm>
            <a:off x="2048768" y="3136503"/>
            <a:ext cx="20849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trg_auditoria_stock</a:t>
            </a:r>
            <a:endParaRPr lang="en-US" sz="1200" dirty="0"/>
          </a:p>
        </p:txBody>
      </p:sp>
      <p:sp>
        <p:nvSpPr>
          <p:cNvPr id="36" name="Shape 34"/>
          <p:cNvSpPr/>
          <p:nvPr/>
        </p:nvSpPr>
        <p:spPr>
          <a:xfrm>
            <a:off x="952500" y="3349823"/>
            <a:ext cx="25400" cy="63500"/>
          </a:xfrm>
          <a:prstGeom prst="rect">
            <a:avLst/>
          </a:prstGeom>
          <a:solidFill>
            <a:srgbClr val="2B3672"/>
          </a:solidFill>
          <a:ln/>
        </p:spPr>
      </p:sp>
      <p:sp>
        <p:nvSpPr>
          <p:cNvPr id="37" name="Text 35"/>
          <p:cNvSpPr/>
          <p:nvPr/>
        </p:nvSpPr>
        <p:spPr>
          <a:xfrm>
            <a:off x="812800" y="3495774"/>
            <a:ext cx="304800" cy="304800"/>
          </a:xfrm>
          <a:prstGeom prst="roundRect">
            <a:avLst>
              <a:gd name="adj" fmla="val 50000"/>
            </a:avLst>
          </a:prstGeom>
          <a:solidFill>
            <a:srgbClr val="6F7A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4</a:t>
            </a:r>
            <a:endParaRPr lang="en-US" sz="1200" dirty="0"/>
          </a:p>
        </p:txBody>
      </p:sp>
      <p:sp>
        <p:nvSpPr>
          <p:cNvPr id="38" name="Text 36"/>
          <p:cNvSpPr/>
          <p:nvPr/>
        </p:nvSpPr>
        <p:spPr>
          <a:xfrm>
            <a:off x="1231900" y="34133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guarda el respaldo con el motivo</a:t>
            </a:r>
            <a:endParaRPr lang="en-US" sz="1300" dirty="0"/>
          </a:p>
        </p:txBody>
      </p:sp>
      <p:sp>
        <p:nvSpPr>
          <p:cNvPr id="39" name="Text 37"/>
          <p:cNvSpPr/>
          <p:nvPr/>
        </p:nvSpPr>
        <p:spPr>
          <a:xfrm>
            <a:off x="1231900" y="3669804"/>
            <a:ext cx="580430" cy="213320"/>
          </a:xfrm>
          <a:custGeom>
            <a:avLst/>
            <a:gdLst/>
            <a:ahLst/>
            <a:cxnLst/>
            <a:rect l="l" t="t" r="r" b="b"/>
            <a:pathLst>
              <a:path w="580430" h="213320">
                <a:moveTo>
                  <a:pt x="38100" y="0"/>
                </a:moveTo>
                <a:lnTo>
                  <a:pt x="542330" y="0"/>
                </a:lnTo>
                <a:arcTo wR="38100" hR="38100" stAng="16200000" swAng="5400000"/>
                <a:lnTo>
                  <a:pt x="580430" y="175220"/>
                </a:lnTo>
                <a:arcTo wR="38100" hR="38100" stAng="0" swAng="5400000"/>
                <a:lnTo>
                  <a:pt x="38100" y="213320"/>
                </a:lnTo>
                <a:arcTo wR="38100" hR="38100" stAng="5400000" swAng="5400000"/>
                <a:lnTo>
                  <a:pt x="0" y="38100"/>
                </a:lnTo>
                <a:arcTo wR="38100" hR="38100" stAng="10800000" swAng="5400000"/>
                <a:close/>
              </a:path>
            </a:pathLst>
          </a:custGeom>
          <a:solidFill>
            <a:srgbClr val="6F7A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TABLA</a:t>
            </a:r>
            <a:endParaRPr lang="en-US" sz="1200" dirty="0"/>
          </a:p>
        </p:txBody>
      </p:sp>
      <p:sp>
        <p:nvSpPr>
          <p:cNvPr id="40" name="Text 38"/>
          <p:cNvSpPr/>
          <p:nvPr/>
        </p:nvSpPr>
        <p:spPr>
          <a:xfrm>
            <a:off x="1875830" y="3669804"/>
            <a:ext cx="40600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venta_anulada · detalle_venta_anulada</a:t>
            </a:r>
            <a:endParaRPr lang="en-US" sz="1200" dirty="0"/>
          </a:p>
        </p:txBody>
      </p:sp>
      <p:sp>
        <p:nvSpPr>
          <p:cNvPr id="41" name="Shape 39"/>
          <p:cNvSpPr/>
          <p:nvPr/>
        </p:nvSpPr>
        <p:spPr>
          <a:xfrm>
            <a:off x="952500" y="3883124"/>
            <a:ext cx="25400" cy="63500"/>
          </a:xfrm>
          <a:prstGeom prst="rect">
            <a:avLst/>
          </a:prstGeom>
          <a:solidFill>
            <a:srgbClr val="2B3672"/>
          </a:solidFill>
          <a:ln/>
        </p:spPr>
      </p:sp>
      <p:sp>
        <p:nvSpPr>
          <p:cNvPr id="42" name="Text 40"/>
          <p:cNvSpPr/>
          <p:nvPr/>
        </p:nvSpPr>
        <p:spPr>
          <a:xfrm>
            <a:off x="812800" y="4029075"/>
            <a:ext cx="304800" cy="304800"/>
          </a:xfrm>
          <a:prstGeom prst="roundRect">
            <a:avLst>
              <a:gd name="adj" fmla="val 50000"/>
            </a:avLst>
          </a:prstGeom>
          <a:solidFill>
            <a:srgbClr val="B8C2E8"/>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5</a:t>
            </a:r>
            <a:endParaRPr lang="en-US" sz="1200" dirty="0"/>
          </a:p>
        </p:txBody>
      </p:sp>
      <p:sp>
        <p:nvSpPr>
          <p:cNvPr id="43" name="Text 41"/>
          <p:cNvSpPr/>
          <p:nvPr/>
        </p:nvSpPr>
        <p:spPr>
          <a:xfrm>
            <a:off x="1231900" y="3946624"/>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package se da permiso para borrar</a:t>
            </a:r>
            <a:endParaRPr lang="en-US" sz="1300" dirty="0"/>
          </a:p>
        </p:txBody>
      </p:sp>
      <p:sp>
        <p:nvSpPr>
          <p:cNvPr id="44" name="Text 42"/>
          <p:cNvSpPr/>
          <p:nvPr/>
        </p:nvSpPr>
        <p:spPr>
          <a:xfrm>
            <a:off x="1231900" y="4203105"/>
            <a:ext cx="791468" cy="213320"/>
          </a:xfrm>
          <a:custGeom>
            <a:avLst/>
            <a:gdLst/>
            <a:ahLst/>
            <a:cxnLst/>
            <a:rect l="l" t="t" r="r" b="b"/>
            <a:pathLst>
              <a:path w="791468" h="213320">
                <a:moveTo>
                  <a:pt x="38100" y="0"/>
                </a:moveTo>
                <a:lnTo>
                  <a:pt x="753368" y="0"/>
                </a:lnTo>
                <a:arcTo wR="38100" hR="38100" stAng="16200000" swAng="5400000"/>
                <a:lnTo>
                  <a:pt x="791468" y="175220"/>
                </a:lnTo>
                <a:arcTo wR="38100" hR="38100" stAng="0" swAng="5400000"/>
                <a:lnTo>
                  <a:pt x="38100" y="213320"/>
                </a:lnTo>
                <a:arcTo wR="38100" hR="38100" stAng="5400000" swAng="5400000"/>
                <a:lnTo>
                  <a:pt x="0" y="38100"/>
                </a:lnTo>
                <a:arcTo wR="38100" hR="38100" stAng="10800000" swAng="5400000"/>
                <a:close/>
              </a:path>
            </a:pathLst>
          </a:custGeom>
          <a:solidFill>
            <a:srgbClr val="B8C2E8"/>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PACKAGE</a:t>
            </a:r>
            <a:endParaRPr lang="en-US" sz="1200" dirty="0"/>
          </a:p>
        </p:txBody>
      </p:sp>
      <p:sp>
        <p:nvSpPr>
          <p:cNvPr id="45" name="Text 43"/>
          <p:cNvSpPr/>
          <p:nvPr/>
        </p:nvSpPr>
        <p:spPr>
          <a:xfrm>
            <a:off x="2086868" y="4203105"/>
            <a:ext cx="36210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pkg_ventas · g_anulando (privado)</a:t>
            </a:r>
            <a:endParaRPr lang="en-US" sz="1200" dirty="0"/>
          </a:p>
        </p:txBody>
      </p:sp>
      <p:sp>
        <p:nvSpPr>
          <p:cNvPr id="46" name="Shape 44"/>
          <p:cNvSpPr/>
          <p:nvPr/>
        </p:nvSpPr>
        <p:spPr>
          <a:xfrm>
            <a:off x="952500" y="4416425"/>
            <a:ext cx="25400" cy="63500"/>
          </a:xfrm>
          <a:prstGeom prst="rect">
            <a:avLst/>
          </a:prstGeom>
          <a:solidFill>
            <a:srgbClr val="2B3672"/>
          </a:solidFill>
          <a:ln/>
        </p:spPr>
      </p:sp>
      <p:sp>
        <p:nvSpPr>
          <p:cNvPr id="47" name="Text 45"/>
          <p:cNvSpPr/>
          <p:nvPr/>
        </p:nvSpPr>
        <p:spPr>
          <a:xfrm>
            <a:off x="812800" y="4562376"/>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6</a:t>
            </a:r>
            <a:endParaRPr lang="en-US" sz="1200" dirty="0"/>
          </a:p>
        </p:txBody>
      </p:sp>
      <p:sp>
        <p:nvSpPr>
          <p:cNvPr id="48" name="Text 46"/>
          <p:cNvSpPr/>
          <p:nvPr/>
        </p:nvSpPr>
        <p:spPr>
          <a:xfrm>
            <a:off x="1231900" y="4479925"/>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Al borrar, el trigger revisa el permiso y deja pasar</a:t>
            </a:r>
            <a:endParaRPr lang="en-US" sz="1300" dirty="0"/>
          </a:p>
        </p:txBody>
      </p:sp>
      <p:sp>
        <p:nvSpPr>
          <p:cNvPr id="49" name="Text 47"/>
          <p:cNvSpPr/>
          <p:nvPr/>
        </p:nvSpPr>
        <p:spPr>
          <a:xfrm>
            <a:off x="1231900" y="4736405"/>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50" name="Text 48"/>
          <p:cNvSpPr/>
          <p:nvPr/>
        </p:nvSpPr>
        <p:spPr>
          <a:xfrm>
            <a:off x="2048768" y="4736405"/>
            <a:ext cx="2852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trg_venta_bloquear_borrado</a:t>
            </a:r>
            <a:endParaRPr lang="en-US" sz="1200" dirty="0"/>
          </a:p>
        </p:txBody>
      </p:sp>
      <p:sp>
        <p:nvSpPr>
          <p:cNvPr id="51" name="Shape 49"/>
          <p:cNvSpPr/>
          <p:nvPr/>
        </p:nvSpPr>
        <p:spPr>
          <a:xfrm>
            <a:off x="952500" y="4949726"/>
            <a:ext cx="25400" cy="63500"/>
          </a:xfrm>
          <a:prstGeom prst="rect">
            <a:avLst/>
          </a:prstGeom>
          <a:solidFill>
            <a:srgbClr val="2B3672"/>
          </a:solidFill>
          <a:ln/>
        </p:spPr>
      </p:sp>
      <p:sp>
        <p:nvSpPr>
          <p:cNvPr id="52" name="Text 50"/>
          <p:cNvSpPr/>
          <p:nvPr/>
        </p:nvSpPr>
        <p:spPr>
          <a:xfrm>
            <a:off x="812800" y="5095677"/>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7</a:t>
            </a:r>
            <a:endParaRPr lang="en-US" sz="1200" dirty="0"/>
          </a:p>
        </p:txBody>
      </p:sp>
      <p:sp>
        <p:nvSpPr>
          <p:cNvPr id="53" name="Text 51"/>
          <p:cNvSpPr/>
          <p:nvPr/>
        </p:nvSpPr>
        <p:spPr>
          <a:xfrm>
            <a:off x="1231900" y="5013226"/>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Queda registrado quién anuló y cuándo</a:t>
            </a:r>
            <a:endParaRPr lang="en-US" sz="1300" dirty="0"/>
          </a:p>
        </p:txBody>
      </p:sp>
      <p:sp>
        <p:nvSpPr>
          <p:cNvPr id="54" name="Text 52"/>
          <p:cNvSpPr/>
          <p:nvPr/>
        </p:nvSpPr>
        <p:spPr>
          <a:xfrm>
            <a:off x="1231900" y="5269706"/>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55" name="Text 53"/>
          <p:cNvSpPr/>
          <p:nvPr/>
        </p:nvSpPr>
        <p:spPr>
          <a:xfrm>
            <a:off x="2048768" y="5269706"/>
            <a:ext cx="20849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trg_venta_sentencia</a:t>
            </a:r>
            <a:endParaRPr lang="en-US" sz="1200" dirty="0"/>
          </a:p>
        </p:txBody>
      </p:sp>
      <p:sp>
        <p:nvSpPr>
          <p:cNvPr id="56" name="Text 5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3FE0EA"/>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B3672"/>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FE0EA"/>
                </a:solidFill>
                <a:latin typeface="Chakra Petch" pitchFamily="34" charset="0"/>
                <a:ea typeface="Chakra Petch" pitchFamily="34" charset="-122"/>
                <a:cs typeface="Chakra Petch" pitchFamily="34" charset="-120"/>
              </a:rPr>
              <a:t>FLUJO 4 · INVENTARIO</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El stock se vigila solo</a:t>
            </a:r>
            <a:endParaRPr lang="en-US" sz="3200" dirty="0"/>
          </a:p>
        </p:txBody>
      </p:sp>
      <p:sp>
        <p:nvSpPr>
          <p:cNvPr id="22" name="Text 20"/>
          <p:cNvSpPr/>
          <p:nvPr/>
        </p:nvSpPr>
        <p:spPr>
          <a:xfrm>
            <a:off x="812800" y="1895872"/>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1</a:t>
            </a:r>
            <a:endParaRPr lang="en-US" sz="1200" dirty="0"/>
          </a:p>
        </p:txBody>
      </p:sp>
      <p:sp>
        <p:nvSpPr>
          <p:cNvPr id="23" name="Text 21"/>
          <p:cNvSpPr/>
          <p:nvPr/>
        </p:nvSpPr>
        <p:spPr>
          <a:xfrm>
            <a:off x="1231900" y="181342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Una venta deja un juego bajo su mínimo: alerta</a:t>
            </a:r>
            <a:endParaRPr lang="en-US" sz="1300" dirty="0"/>
          </a:p>
        </p:txBody>
      </p:sp>
      <p:sp>
        <p:nvSpPr>
          <p:cNvPr id="24" name="Text 22"/>
          <p:cNvSpPr/>
          <p:nvPr/>
        </p:nvSpPr>
        <p:spPr>
          <a:xfrm>
            <a:off x="1231900" y="2069902"/>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25" name="Text 23"/>
          <p:cNvSpPr/>
          <p:nvPr/>
        </p:nvSpPr>
        <p:spPr>
          <a:xfrm>
            <a:off x="2048768" y="2069902"/>
            <a:ext cx="2304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trg_alerta_reposicion</a:t>
            </a:r>
            <a:endParaRPr lang="en-US" sz="1200" dirty="0"/>
          </a:p>
        </p:txBody>
      </p:sp>
      <p:sp>
        <p:nvSpPr>
          <p:cNvPr id="26" name="Shape 24"/>
          <p:cNvSpPr/>
          <p:nvPr/>
        </p:nvSpPr>
        <p:spPr>
          <a:xfrm>
            <a:off x="952500" y="2283222"/>
            <a:ext cx="25400" cy="63500"/>
          </a:xfrm>
          <a:prstGeom prst="rect">
            <a:avLst/>
          </a:prstGeom>
          <a:solidFill>
            <a:srgbClr val="2B3672"/>
          </a:solidFill>
          <a:ln/>
        </p:spPr>
      </p:sp>
      <p:sp>
        <p:nvSpPr>
          <p:cNvPr id="27" name="Text 25"/>
          <p:cNvSpPr/>
          <p:nvPr/>
        </p:nvSpPr>
        <p:spPr>
          <a:xfrm>
            <a:off x="812800" y="2429173"/>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2</a:t>
            </a:r>
            <a:endParaRPr lang="en-US" sz="1200" dirty="0"/>
          </a:p>
        </p:txBody>
      </p:sp>
      <p:sp>
        <p:nvSpPr>
          <p:cNvPr id="28" name="Text 26"/>
          <p:cNvSpPr/>
          <p:nvPr/>
        </p:nvSpPr>
        <p:spPr>
          <a:xfrm>
            <a:off x="1231900" y="2346722"/>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encargado pide la lista de compra</a:t>
            </a:r>
            <a:endParaRPr lang="en-US" sz="1300" dirty="0"/>
          </a:p>
        </p:txBody>
      </p:sp>
      <p:sp>
        <p:nvSpPr>
          <p:cNvPr id="29" name="Text 27"/>
          <p:cNvSpPr/>
          <p:nvPr/>
        </p:nvSpPr>
        <p:spPr>
          <a:xfrm>
            <a:off x="1231900" y="2603202"/>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30" name="Text 28"/>
          <p:cNvSpPr/>
          <p:nvPr/>
        </p:nvSpPr>
        <p:spPr>
          <a:xfrm>
            <a:off x="2609155" y="2603202"/>
            <a:ext cx="36210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pkg_inventario.sugerir_reposicion</a:t>
            </a:r>
            <a:endParaRPr lang="en-US" sz="1200" dirty="0"/>
          </a:p>
        </p:txBody>
      </p:sp>
      <p:sp>
        <p:nvSpPr>
          <p:cNvPr id="31" name="Shape 29"/>
          <p:cNvSpPr/>
          <p:nvPr/>
        </p:nvSpPr>
        <p:spPr>
          <a:xfrm>
            <a:off x="952500" y="2816523"/>
            <a:ext cx="25400" cy="63500"/>
          </a:xfrm>
          <a:prstGeom prst="rect">
            <a:avLst/>
          </a:prstGeom>
          <a:solidFill>
            <a:srgbClr val="2B3672"/>
          </a:solidFill>
          <a:ln/>
        </p:spPr>
      </p:sp>
      <p:sp>
        <p:nvSpPr>
          <p:cNvPr id="32" name="Text 30"/>
          <p:cNvSpPr/>
          <p:nvPr/>
        </p:nvSpPr>
        <p:spPr>
          <a:xfrm>
            <a:off x="812800" y="2962473"/>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3</a:t>
            </a:r>
            <a:endParaRPr lang="en-US" sz="1200" dirty="0"/>
          </a:p>
        </p:txBody>
      </p:sp>
      <p:sp>
        <p:nvSpPr>
          <p:cNvPr id="33" name="Text 31"/>
          <p:cNvSpPr/>
          <p:nvPr/>
        </p:nvSpPr>
        <p:spPr>
          <a:xfrm>
            <a:off x="1231900" y="28800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Cuenta cuántos juegos esperan reposición</a:t>
            </a:r>
            <a:endParaRPr lang="en-US" sz="1300" dirty="0"/>
          </a:p>
        </p:txBody>
      </p:sp>
      <p:sp>
        <p:nvSpPr>
          <p:cNvPr id="34" name="Text 32"/>
          <p:cNvSpPr/>
          <p:nvPr/>
        </p:nvSpPr>
        <p:spPr>
          <a:xfrm>
            <a:off x="1231900" y="3136503"/>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35" name="Text 33"/>
          <p:cNvSpPr/>
          <p:nvPr/>
        </p:nvSpPr>
        <p:spPr>
          <a:xfrm>
            <a:off x="2069108" y="3136503"/>
            <a:ext cx="2304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fn_alertas_pendientes</a:t>
            </a:r>
            <a:endParaRPr lang="en-US" sz="1200" dirty="0"/>
          </a:p>
        </p:txBody>
      </p:sp>
      <p:sp>
        <p:nvSpPr>
          <p:cNvPr id="36" name="Shape 34"/>
          <p:cNvSpPr/>
          <p:nvPr/>
        </p:nvSpPr>
        <p:spPr>
          <a:xfrm>
            <a:off x="952500" y="3349823"/>
            <a:ext cx="25400" cy="63500"/>
          </a:xfrm>
          <a:prstGeom prst="rect">
            <a:avLst/>
          </a:prstGeom>
          <a:solidFill>
            <a:srgbClr val="2B3672"/>
          </a:solidFill>
          <a:ln/>
        </p:spPr>
      </p:sp>
      <p:sp>
        <p:nvSpPr>
          <p:cNvPr id="37" name="Text 35"/>
          <p:cNvSpPr/>
          <p:nvPr/>
        </p:nvSpPr>
        <p:spPr>
          <a:xfrm>
            <a:off x="812800" y="3495774"/>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4</a:t>
            </a:r>
            <a:endParaRPr lang="en-US" sz="1200" dirty="0"/>
          </a:p>
        </p:txBody>
      </p:sp>
      <p:sp>
        <p:nvSpPr>
          <p:cNvPr id="38" name="Text 36"/>
          <p:cNvSpPr/>
          <p:nvPr/>
        </p:nvSpPr>
        <p:spPr>
          <a:xfrm>
            <a:off x="1231900" y="34133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Calcula cuánto comprar de cada uno</a:t>
            </a:r>
            <a:endParaRPr lang="en-US" sz="1300" dirty="0"/>
          </a:p>
        </p:txBody>
      </p:sp>
      <p:sp>
        <p:nvSpPr>
          <p:cNvPr id="39" name="Text 37"/>
          <p:cNvSpPr/>
          <p:nvPr/>
        </p:nvSpPr>
        <p:spPr>
          <a:xfrm>
            <a:off x="1231900" y="3669804"/>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40" name="Text 38"/>
          <p:cNvSpPr/>
          <p:nvPr/>
        </p:nvSpPr>
        <p:spPr>
          <a:xfrm>
            <a:off x="2069108" y="3669804"/>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fn_cantidad_sugerida</a:t>
            </a:r>
            <a:endParaRPr lang="en-US" sz="1200" dirty="0"/>
          </a:p>
        </p:txBody>
      </p:sp>
      <p:sp>
        <p:nvSpPr>
          <p:cNvPr id="41" name="Shape 39"/>
          <p:cNvSpPr/>
          <p:nvPr/>
        </p:nvSpPr>
        <p:spPr>
          <a:xfrm>
            <a:off x="952500" y="3883124"/>
            <a:ext cx="25400" cy="63500"/>
          </a:xfrm>
          <a:prstGeom prst="rect">
            <a:avLst/>
          </a:prstGeom>
          <a:solidFill>
            <a:srgbClr val="2B3672"/>
          </a:solidFill>
          <a:ln/>
        </p:spPr>
      </p:sp>
      <p:sp>
        <p:nvSpPr>
          <p:cNvPr id="42" name="Text 40"/>
          <p:cNvSpPr/>
          <p:nvPr/>
        </p:nvSpPr>
        <p:spPr>
          <a:xfrm>
            <a:off x="812800" y="4029075"/>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5</a:t>
            </a:r>
            <a:endParaRPr lang="en-US" sz="1200" dirty="0"/>
          </a:p>
        </p:txBody>
      </p:sp>
      <p:sp>
        <p:nvSpPr>
          <p:cNvPr id="43" name="Text 41"/>
          <p:cNvSpPr/>
          <p:nvPr/>
        </p:nvSpPr>
        <p:spPr>
          <a:xfrm>
            <a:off x="1231900" y="3946624"/>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Llega la mercadería y se ingresa</a:t>
            </a:r>
            <a:endParaRPr lang="en-US" sz="1300" dirty="0"/>
          </a:p>
        </p:txBody>
      </p:sp>
      <p:sp>
        <p:nvSpPr>
          <p:cNvPr id="44" name="Text 42"/>
          <p:cNvSpPr/>
          <p:nvPr/>
        </p:nvSpPr>
        <p:spPr>
          <a:xfrm>
            <a:off x="1231900" y="4203105"/>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45" name="Text 43"/>
          <p:cNvSpPr/>
          <p:nvPr/>
        </p:nvSpPr>
        <p:spPr>
          <a:xfrm>
            <a:off x="2609155" y="4203105"/>
            <a:ext cx="30724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pkg_inventario.reponer_stock</a:t>
            </a:r>
            <a:endParaRPr lang="en-US" sz="1200" dirty="0"/>
          </a:p>
        </p:txBody>
      </p:sp>
      <p:sp>
        <p:nvSpPr>
          <p:cNvPr id="46" name="Shape 44"/>
          <p:cNvSpPr/>
          <p:nvPr/>
        </p:nvSpPr>
        <p:spPr>
          <a:xfrm>
            <a:off x="952500" y="4416425"/>
            <a:ext cx="25400" cy="63500"/>
          </a:xfrm>
          <a:prstGeom prst="rect">
            <a:avLst/>
          </a:prstGeom>
          <a:solidFill>
            <a:srgbClr val="2B3672"/>
          </a:solidFill>
          <a:ln/>
        </p:spPr>
      </p:sp>
      <p:sp>
        <p:nvSpPr>
          <p:cNvPr id="47" name="Text 45"/>
          <p:cNvSpPr/>
          <p:nvPr/>
        </p:nvSpPr>
        <p:spPr>
          <a:xfrm>
            <a:off x="812800" y="4562376"/>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6</a:t>
            </a:r>
            <a:endParaRPr lang="en-US" sz="1200" dirty="0"/>
          </a:p>
        </p:txBody>
      </p:sp>
      <p:sp>
        <p:nvSpPr>
          <p:cNvPr id="48" name="Text 46"/>
          <p:cNvSpPr/>
          <p:nvPr/>
        </p:nvSpPr>
        <p:spPr>
          <a:xfrm>
            <a:off x="1231900" y="4479925"/>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stock supera el mínimo: la alerta se cierra sola</a:t>
            </a:r>
            <a:endParaRPr lang="en-US" sz="1300" dirty="0"/>
          </a:p>
        </p:txBody>
      </p:sp>
      <p:sp>
        <p:nvSpPr>
          <p:cNvPr id="49" name="Text 47"/>
          <p:cNvSpPr/>
          <p:nvPr/>
        </p:nvSpPr>
        <p:spPr>
          <a:xfrm>
            <a:off x="1231900" y="4736405"/>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50" name="Text 48"/>
          <p:cNvSpPr/>
          <p:nvPr/>
        </p:nvSpPr>
        <p:spPr>
          <a:xfrm>
            <a:off x="2048768" y="4736405"/>
            <a:ext cx="2304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trg_alerta_reposicion</a:t>
            </a:r>
            <a:endParaRPr lang="en-US" sz="1200" dirty="0"/>
          </a:p>
        </p:txBody>
      </p:sp>
      <p:sp>
        <p:nvSpPr>
          <p:cNvPr id="51" name="Shape 49"/>
          <p:cNvSpPr/>
          <p:nvPr/>
        </p:nvSpPr>
        <p:spPr>
          <a:xfrm>
            <a:off x="952500" y="4949726"/>
            <a:ext cx="25400" cy="63500"/>
          </a:xfrm>
          <a:prstGeom prst="rect">
            <a:avLst/>
          </a:prstGeom>
          <a:solidFill>
            <a:srgbClr val="2B3672"/>
          </a:solidFill>
          <a:ln/>
        </p:spPr>
      </p:sp>
      <p:sp>
        <p:nvSpPr>
          <p:cNvPr id="52" name="Text 50"/>
          <p:cNvSpPr/>
          <p:nvPr/>
        </p:nvSpPr>
        <p:spPr>
          <a:xfrm>
            <a:off x="812800" y="5095677"/>
            <a:ext cx="304800" cy="304800"/>
          </a:xfrm>
          <a:prstGeom prst="roundRect">
            <a:avLst>
              <a:gd name="adj" fmla="val 50000"/>
            </a:avLst>
          </a:prstGeom>
          <a:solidFill>
            <a:srgbClr val="FF6FAE"/>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7</a:t>
            </a:r>
            <a:endParaRPr lang="en-US" sz="1200" dirty="0"/>
          </a:p>
        </p:txBody>
      </p:sp>
      <p:sp>
        <p:nvSpPr>
          <p:cNvPr id="53" name="Text 51"/>
          <p:cNvSpPr/>
          <p:nvPr/>
        </p:nvSpPr>
        <p:spPr>
          <a:xfrm>
            <a:off x="1231900" y="5013226"/>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ingreso queda auditado</a:t>
            </a:r>
            <a:endParaRPr lang="en-US" sz="1300" dirty="0"/>
          </a:p>
        </p:txBody>
      </p:sp>
      <p:sp>
        <p:nvSpPr>
          <p:cNvPr id="54" name="Text 52"/>
          <p:cNvSpPr/>
          <p:nvPr/>
        </p:nvSpPr>
        <p:spPr>
          <a:xfrm>
            <a:off x="1231900" y="5269706"/>
            <a:ext cx="753368" cy="213320"/>
          </a:xfrm>
          <a:custGeom>
            <a:avLst/>
            <a:gdLst/>
            <a:ahLst/>
            <a:cxnLst/>
            <a:rect l="l" t="t" r="r" b="b"/>
            <a:pathLst>
              <a:path w="753368" h="213320">
                <a:moveTo>
                  <a:pt x="38100" y="0"/>
                </a:moveTo>
                <a:lnTo>
                  <a:pt x="715268" y="0"/>
                </a:lnTo>
                <a:arcTo wR="38100" hR="38100" stAng="16200000" swAng="5400000"/>
                <a:lnTo>
                  <a:pt x="753368" y="175220"/>
                </a:lnTo>
                <a:arcTo wR="38100" hR="38100" stAng="0" swAng="5400000"/>
                <a:lnTo>
                  <a:pt x="38100" y="2133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55" name="Text 53"/>
          <p:cNvSpPr/>
          <p:nvPr/>
        </p:nvSpPr>
        <p:spPr>
          <a:xfrm>
            <a:off x="2048768" y="5269706"/>
            <a:ext cx="20849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trg_auditoria_stock</a:t>
            </a:r>
            <a:endParaRPr lang="en-US" sz="1200" dirty="0"/>
          </a:p>
        </p:txBody>
      </p:sp>
      <p:sp>
        <p:nvSpPr>
          <p:cNvPr id="56" name="Text 5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07 /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A4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E8A95"/>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3FE0EA"/>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2B3672"/>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7C1FF"/>
                </a:solidFill>
                <a:latin typeface="Chakra Petch" pitchFamily="34" charset="0"/>
                <a:ea typeface="Chakra Petch" pitchFamily="34" charset="-122"/>
                <a:cs typeface="Chakra Petch" pitchFamily="34" charset="-120"/>
              </a:rPr>
              <a:t>FLUJO 5 · CIERRE DEL DÍA</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Todo el resumen en una sola llamada</a:t>
            </a:r>
            <a:endParaRPr lang="en-US" sz="3200" dirty="0"/>
          </a:p>
        </p:txBody>
      </p:sp>
      <p:sp>
        <p:nvSpPr>
          <p:cNvPr id="22" name="Text 20"/>
          <p:cNvSpPr/>
          <p:nvPr/>
        </p:nvSpPr>
        <p:spPr>
          <a:xfrm>
            <a:off x="812800" y="1895872"/>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1</a:t>
            </a:r>
            <a:endParaRPr lang="en-US" sz="1200" dirty="0"/>
          </a:p>
        </p:txBody>
      </p:sp>
      <p:sp>
        <p:nvSpPr>
          <p:cNvPr id="23" name="Text 21"/>
          <p:cNvSpPr/>
          <p:nvPr/>
        </p:nvSpPr>
        <p:spPr>
          <a:xfrm>
            <a:off x="1231900" y="1813421"/>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El encargado cierra el día</a:t>
            </a:r>
            <a:endParaRPr lang="en-US" sz="1300" dirty="0"/>
          </a:p>
        </p:txBody>
      </p:sp>
      <p:sp>
        <p:nvSpPr>
          <p:cNvPr id="24" name="Text 22"/>
          <p:cNvSpPr/>
          <p:nvPr/>
        </p:nvSpPr>
        <p:spPr>
          <a:xfrm>
            <a:off x="1231900" y="2069902"/>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25" name="Text 23"/>
          <p:cNvSpPr/>
          <p:nvPr/>
        </p:nvSpPr>
        <p:spPr>
          <a:xfrm>
            <a:off x="2609155" y="2069902"/>
            <a:ext cx="35113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pkg_inventario.cierre_inventario</a:t>
            </a:r>
            <a:endParaRPr lang="en-US" sz="1200" dirty="0"/>
          </a:p>
        </p:txBody>
      </p:sp>
      <p:sp>
        <p:nvSpPr>
          <p:cNvPr id="26" name="Shape 24"/>
          <p:cNvSpPr/>
          <p:nvPr/>
        </p:nvSpPr>
        <p:spPr>
          <a:xfrm>
            <a:off x="952500" y="2283222"/>
            <a:ext cx="25400" cy="63500"/>
          </a:xfrm>
          <a:prstGeom prst="rect">
            <a:avLst/>
          </a:prstGeom>
          <a:solidFill>
            <a:srgbClr val="2B3672"/>
          </a:solidFill>
          <a:ln/>
        </p:spPr>
      </p:sp>
      <p:sp>
        <p:nvSpPr>
          <p:cNvPr id="27" name="Text 25"/>
          <p:cNvSpPr/>
          <p:nvPr/>
        </p:nvSpPr>
        <p:spPr>
          <a:xfrm>
            <a:off x="812800" y="2441873"/>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2</a:t>
            </a:r>
            <a:endParaRPr lang="en-US" sz="1200" dirty="0"/>
          </a:p>
        </p:txBody>
      </p:sp>
      <p:sp>
        <p:nvSpPr>
          <p:cNvPr id="28" name="Text 26"/>
          <p:cNvSpPr/>
          <p:nvPr/>
        </p:nvSpPr>
        <p:spPr>
          <a:xfrm>
            <a:off x="1231900" y="2346722"/>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resume cada juego del catálogo</a:t>
            </a:r>
            <a:endParaRPr lang="en-US" sz="1300" dirty="0"/>
          </a:p>
        </p:txBody>
      </p:sp>
      <p:sp>
        <p:nvSpPr>
          <p:cNvPr id="29" name="Text 27"/>
          <p:cNvSpPr/>
          <p:nvPr/>
        </p:nvSpPr>
        <p:spPr>
          <a:xfrm>
            <a:off x="1231900" y="2615902"/>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30" name="Text 28"/>
          <p:cNvSpPr/>
          <p:nvPr/>
        </p:nvSpPr>
        <p:spPr>
          <a:xfrm>
            <a:off x="2609155" y="2615902"/>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pr_generar_resumen_ventas</a:t>
            </a:r>
            <a:endParaRPr lang="en-US" sz="1200" dirty="0"/>
          </a:p>
        </p:txBody>
      </p:sp>
      <p:sp>
        <p:nvSpPr>
          <p:cNvPr id="31" name="Text 29"/>
          <p:cNvSpPr/>
          <p:nvPr/>
        </p:nvSpPr>
        <p:spPr>
          <a:xfrm>
            <a:off x="4965005" y="2609552"/>
            <a:ext cx="2333724"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3FE0EA"/>
                </a:solidFill>
                <a:latin typeface="DM Sans" pitchFamily="34" charset="0"/>
                <a:ea typeface="DM Sans" pitchFamily="34" charset="-122"/>
                <a:cs typeface="DM Sans" pitchFamily="34" charset="-120"/>
              </a:rPr>
              <a:t>sin parámetros · masivo: cursor</a:t>
            </a:r>
            <a:endParaRPr lang="en-US" sz="1200" dirty="0"/>
          </a:p>
        </p:txBody>
      </p:sp>
      <p:sp>
        <p:nvSpPr>
          <p:cNvPr id="32" name="Shape 30"/>
          <p:cNvSpPr/>
          <p:nvPr/>
        </p:nvSpPr>
        <p:spPr>
          <a:xfrm>
            <a:off x="952500" y="2841923"/>
            <a:ext cx="25400" cy="63500"/>
          </a:xfrm>
          <a:prstGeom prst="rect">
            <a:avLst/>
          </a:prstGeom>
          <a:solidFill>
            <a:srgbClr val="2B3672"/>
          </a:solidFill>
          <a:ln/>
        </p:spPr>
      </p:sp>
      <p:sp>
        <p:nvSpPr>
          <p:cNvPr id="33" name="Text 31"/>
          <p:cNvSpPr/>
          <p:nvPr/>
        </p:nvSpPr>
        <p:spPr>
          <a:xfrm>
            <a:off x="812800" y="3000573"/>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3</a:t>
            </a:r>
            <a:endParaRPr lang="en-US" sz="1200" dirty="0"/>
          </a:p>
        </p:txBody>
      </p:sp>
      <p:sp>
        <p:nvSpPr>
          <p:cNvPr id="34" name="Text 32"/>
          <p:cNvSpPr/>
          <p:nvPr/>
        </p:nvSpPr>
        <p:spPr>
          <a:xfrm>
            <a:off x="1231900" y="29054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cuentan las unidades vendidas de cada uno</a:t>
            </a:r>
            <a:endParaRPr lang="en-US" sz="1300" dirty="0"/>
          </a:p>
        </p:txBody>
      </p:sp>
      <p:sp>
        <p:nvSpPr>
          <p:cNvPr id="35" name="Text 33"/>
          <p:cNvSpPr/>
          <p:nvPr/>
        </p:nvSpPr>
        <p:spPr>
          <a:xfrm>
            <a:off x="1231900" y="3174603"/>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36" name="Text 34"/>
          <p:cNvSpPr/>
          <p:nvPr/>
        </p:nvSpPr>
        <p:spPr>
          <a:xfrm>
            <a:off x="2069108" y="3174603"/>
            <a:ext cx="1892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fn_unidades_vendidas</a:t>
            </a:r>
            <a:endParaRPr lang="en-US" sz="1200" dirty="0"/>
          </a:p>
        </p:txBody>
      </p:sp>
      <p:sp>
        <p:nvSpPr>
          <p:cNvPr id="37" name="Text 35"/>
          <p:cNvSpPr/>
          <p:nvPr/>
        </p:nvSpPr>
        <p:spPr>
          <a:xfrm>
            <a:off x="3967758" y="3168253"/>
            <a:ext cx="2492970"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E7C1FF"/>
                </a:solidFill>
                <a:latin typeface="DM Sans" pitchFamily="34" charset="0"/>
                <a:ea typeface="DM Sans" pitchFamily="34" charset="-122"/>
                <a:cs typeface="DM Sans" pitchFamily="34" charset="-120"/>
              </a:rPr>
              <a:t>con parámetro · usada en PL/SQL</a:t>
            </a:r>
            <a:endParaRPr lang="en-US" sz="1200" dirty="0"/>
          </a:p>
        </p:txBody>
      </p:sp>
      <p:sp>
        <p:nvSpPr>
          <p:cNvPr id="38" name="Shape 36"/>
          <p:cNvSpPr/>
          <p:nvPr/>
        </p:nvSpPr>
        <p:spPr>
          <a:xfrm>
            <a:off x="952500" y="3400623"/>
            <a:ext cx="25400" cy="63500"/>
          </a:xfrm>
          <a:prstGeom prst="rect">
            <a:avLst/>
          </a:prstGeom>
          <a:solidFill>
            <a:srgbClr val="2B3672"/>
          </a:solidFill>
          <a:ln/>
        </p:spPr>
      </p:sp>
      <p:sp>
        <p:nvSpPr>
          <p:cNvPr id="39" name="Text 37"/>
          <p:cNvSpPr/>
          <p:nvPr/>
        </p:nvSpPr>
        <p:spPr>
          <a:xfrm>
            <a:off x="812800" y="3546574"/>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4</a:t>
            </a:r>
            <a:endParaRPr lang="en-US" sz="1200" dirty="0"/>
          </a:p>
        </p:txBody>
      </p:sp>
      <p:sp>
        <p:nvSpPr>
          <p:cNvPr id="40" name="Text 38"/>
          <p:cNvSpPr/>
          <p:nvPr/>
        </p:nvSpPr>
        <p:spPr>
          <a:xfrm>
            <a:off x="1231900" y="3464123"/>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marca NORMAL, STOCK BAJO o AGOTADO</a:t>
            </a:r>
            <a:endParaRPr lang="en-US" sz="1300" dirty="0"/>
          </a:p>
        </p:txBody>
      </p:sp>
      <p:sp>
        <p:nvSpPr>
          <p:cNvPr id="41" name="Text 39"/>
          <p:cNvSpPr/>
          <p:nvPr/>
        </p:nvSpPr>
        <p:spPr>
          <a:xfrm>
            <a:off x="1231900" y="3720604"/>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42" name="Text 40"/>
          <p:cNvSpPr/>
          <p:nvPr/>
        </p:nvSpPr>
        <p:spPr>
          <a:xfrm>
            <a:off x="2069108" y="3720604"/>
            <a:ext cx="329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pkg_inventario.estado_producto</a:t>
            </a:r>
            <a:endParaRPr lang="en-US" sz="1200" dirty="0"/>
          </a:p>
        </p:txBody>
      </p:sp>
      <p:sp>
        <p:nvSpPr>
          <p:cNvPr id="43" name="Shape 41"/>
          <p:cNvSpPr/>
          <p:nvPr/>
        </p:nvSpPr>
        <p:spPr>
          <a:xfrm>
            <a:off x="952500" y="3933924"/>
            <a:ext cx="25400" cy="63500"/>
          </a:xfrm>
          <a:prstGeom prst="rect">
            <a:avLst/>
          </a:prstGeom>
          <a:solidFill>
            <a:srgbClr val="2B3672"/>
          </a:solidFill>
          <a:ln/>
        </p:spPr>
      </p:sp>
      <p:sp>
        <p:nvSpPr>
          <p:cNvPr id="44" name="Text 42"/>
          <p:cNvSpPr/>
          <p:nvPr/>
        </p:nvSpPr>
        <p:spPr>
          <a:xfrm>
            <a:off x="812800" y="4092575"/>
            <a:ext cx="304800" cy="304800"/>
          </a:xfrm>
          <a:prstGeom prst="roundRect">
            <a:avLst>
              <a:gd name="adj" fmla="val 50000"/>
            </a:avLst>
          </a:prstGeom>
          <a:solidFill>
            <a:srgbClr val="E7C1FF"/>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5</a:t>
            </a:r>
            <a:endParaRPr lang="en-US" sz="1200" dirty="0"/>
          </a:p>
        </p:txBody>
      </p:sp>
      <p:sp>
        <p:nvSpPr>
          <p:cNvPr id="45" name="Text 43"/>
          <p:cNvSpPr/>
          <p:nvPr/>
        </p:nvSpPr>
        <p:spPr>
          <a:xfrm>
            <a:off x="1231900" y="3997424"/>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muestra el total vendido</a:t>
            </a:r>
            <a:endParaRPr lang="en-US" sz="1300" dirty="0"/>
          </a:p>
        </p:txBody>
      </p:sp>
      <p:sp>
        <p:nvSpPr>
          <p:cNvPr id="46" name="Text 44"/>
          <p:cNvSpPr/>
          <p:nvPr/>
        </p:nvSpPr>
        <p:spPr>
          <a:xfrm>
            <a:off x="1231900" y="4266605"/>
            <a:ext cx="773708" cy="213320"/>
          </a:xfrm>
          <a:custGeom>
            <a:avLst/>
            <a:gdLst/>
            <a:ahLst/>
            <a:cxnLst/>
            <a:rect l="l" t="t" r="r" b="b"/>
            <a:pathLst>
              <a:path w="773708" h="213320">
                <a:moveTo>
                  <a:pt x="38100" y="0"/>
                </a:moveTo>
                <a:lnTo>
                  <a:pt x="735608" y="0"/>
                </a:lnTo>
                <a:arcTo wR="38100" hR="38100" stAng="16200000" swAng="5400000"/>
                <a:lnTo>
                  <a:pt x="773708" y="175220"/>
                </a:lnTo>
                <a:arcTo wR="38100" hR="38100" stAng="0" swAng="5400000"/>
                <a:lnTo>
                  <a:pt x="38100" y="2133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47" name="Text 45"/>
          <p:cNvSpPr/>
          <p:nvPr/>
        </p:nvSpPr>
        <p:spPr>
          <a:xfrm>
            <a:off x="2069108" y="4266605"/>
            <a:ext cx="14351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fn_total_ventas</a:t>
            </a:r>
            <a:endParaRPr lang="en-US" sz="1200" dirty="0"/>
          </a:p>
        </p:txBody>
      </p:sp>
      <p:sp>
        <p:nvSpPr>
          <p:cNvPr id="48" name="Text 46"/>
          <p:cNvSpPr/>
          <p:nvPr/>
        </p:nvSpPr>
        <p:spPr>
          <a:xfrm>
            <a:off x="3510558" y="4260255"/>
            <a:ext cx="1198364" cy="226020"/>
          </a:xfrm>
          <a:prstGeom prst="roundRect">
            <a:avLst>
              <a:gd name="adj" fmla="val 14047"/>
            </a:avLst>
          </a:prstGeom>
          <a:noFill/>
          <a:ln w="12700">
            <a:solidFill>
              <a:srgbClr val="2B3672"/>
            </a:solidFill>
            <a:prstDash val="solid"/>
          </a:ln>
        </p:spPr>
        <p:txBody>
          <a:bodyPr wrap="none" lIns="0" tIns="0" rIns="0" bIns="0" rtlCol="0" anchor="ctr">
            <a:normAutofit/>
          </a:bodyPr>
          <a:lstStyle/>
          <a:p>
            <a:pPr marL="0" indent="0" algn="ctr">
              <a:lnSpc>
                <a:spcPts val="1680"/>
              </a:lnSpc>
              <a:buNone/>
            </a:pPr>
            <a:r>
              <a:rPr lang="en-US" sz="1200" dirty="0">
                <a:solidFill>
                  <a:srgbClr val="E7C1FF"/>
                </a:solidFill>
                <a:latin typeface="DM Sans" pitchFamily="34" charset="0"/>
                <a:ea typeface="DM Sans" pitchFamily="34" charset="-122"/>
                <a:cs typeface="DM Sans" pitchFamily="34" charset="-120"/>
              </a:rPr>
              <a:t>sin parámetros</a:t>
            </a:r>
            <a:endParaRPr lang="en-US" sz="1200" dirty="0"/>
          </a:p>
        </p:txBody>
      </p:sp>
      <p:sp>
        <p:nvSpPr>
          <p:cNvPr id="49" name="Shape 47"/>
          <p:cNvSpPr/>
          <p:nvPr/>
        </p:nvSpPr>
        <p:spPr>
          <a:xfrm>
            <a:off x="952500" y="4492625"/>
            <a:ext cx="25400" cy="63500"/>
          </a:xfrm>
          <a:prstGeom prst="rect">
            <a:avLst/>
          </a:prstGeom>
          <a:solidFill>
            <a:srgbClr val="2B3672"/>
          </a:solidFill>
          <a:ln/>
        </p:spPr>
      </p:sp>
      <p:sp>
        <p:nvSpPr>
          <p:cNvPr id="50" name="Text 48"/>
          <p:cNvSpPr/>
          <p:nvPr/>
        </p:nvSpPr>
        <p:spPr>
          <a:xfrm>
            <a:off x="812800" y="4638576"/>
            <a:ext cx="304800" cy="304800"/>
          </a:xfrm>
          <a:prstGeom prst="roundRect">
            <a:avLst>
              <a:gd name="adj" fmla="val 50000"/>
            </a:avLst>
          </a:prstGeom>
          <a:solidFill>
            <a:srgbClr val="B8C2E8"/>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6</a:t>
            </a:r>
            <a:endParaRPr lang="en-US" sz="1200" dirty="0"/>
          </a:p>
        </p:txBody>
      </p:sp>
      <p:sp>
        <p:nvSpPr>
          <p:cNvPr id="51" name="Text 49"/>
          <p:cNvSpPr/>
          <p:nvPr/>
        </p:nvSpPr>
        <p:spPr>
          <a:xfrm>
            <a:off x="1231900" y="4556125"/>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Se calcula el % que aporta cada juego</a:t>
            </a:r>
            <a:endParaRPr lang="en-US" sz="1300" dirty="0"/>
          </a:p>
        </p:txBody>
      </p:sp>
      <p:sp>
        <p:nvSpPr>
          <p:cNvPr id="52" name="Text 50"/>
          <p:cNvSpPr/>
          <p:nvPr/>
        </p:nvSpPr>
        <p:spPr>
          <a:xfrm>
            <a:off x="1231900" y="4812605"/>
            <a:ext cx="791468" cy="213320"/>
          </a:xfrm>
          <a:custGeom>
            <a:avLst/>
            <a:gdLst/>
            <a:ahLst/>
            <a:cxnLst/>
            <a:rect l="l" t="t" r="r" b="b"/>
            <a:pathLst>
              <a:path w="791468" h="213320">
                <a:moveTo>
                  <a:pt x="38100" y="0"/>
                </a:moveTo>
                <a:lnTo>
                  <a:pt x="753368" y="0"/>
                </a:lnTo>
                <a:arcTo wR="38100" hR="38100" stAng="16200000" swAng="5400000"/>
                <a:lnTo>
                  <a:pt x="791468" y="175220"/>
                </a:lnTo>
                <a:arcTo wR="38100" hR="38100" stAng="0" swAng="5400000"/>
                <a:lnTo>
                  <a:pt x="38100" y="213320"/>
                </a:lnTo>
                <a:arcTo wR="38100" hR="38100" stAng="5400000" swAng="5400000"/>
                <a:lnTo>
                  <a:pt x="0" y="38100"/>
                </a:lnTo>
                <a:arcTo wR="38100" hR="38100" stAng="10800000" swAng="5400000"/>
                <a:close/>
              </a:path>
            </a:pathLst>
          </a:custGeom>
          <a:solidFill>
            <a:srgbClr val="B8C2E8"/>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PACKAGE</a:t>
            </a:r>
            <a:endParaRPr lang="en-US" sz="1200" dirty="0"/>
          </a:p>
        </p:txBody>
      </p:sp>
      <p:sp>
        <p:nvSpPr>
          <p:cNvPr id="53" name="Text 51"/>
          <p:cNvSpPr/>
          <p:nvPr/>
        </p:nvSpPr>
        <p:spPr>
          <a:xfrm>
            <a:off x="2086868" y="4812605"/>
            <a:ext cx="29627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porcentaje_ventas (privada)</a:t>
            </a:r>
            <a:endParaRPr lang="en-US" sz="1200" dirty="0"/>
          </a:p>
        </p:txBody>
      </p:sp>
      <p:sp>
        <p:nvSpPr>
          <p:cNvPr id="54" name="Shape 52"/>
          <p:cNvSpPr/>
          <p:nvPr/>
        </p:nvSpPr>
        <p:spPr>
          <a:xfrm>
            <a:off x="952500" y="5025926"/>
            <a:ext cx="25400" cy="63500"/>
          </a:xfrm>
          <a:prstGeom prst="rect">
            <a:avLst/>
          </a:prstGeom>
          <a:solidFill>
            <a:srgbClr val="2B3672"/>
          </a:solidFill>
          <a:ln/>
        </p:spPr>
      </p:sp>
      <p:sp>
        <p:nvSpPr>
          <p:cNvPr id="55" name="Text 53"/>
          <p:cNvSpPr/>
          <p:nvPr/>
        </p:nvSpPr>
        <p:spPr>
          <a:xfrm>
            <a:off x="812800" y="5171877"/>
            <a:ext cx="304800" cy="304800"/>
          </a:xfrm>
          <a:prstGeom prst="roundRect">
            <a:avLst>
              <a:gd name="adj" fmla="val 50000"/>
            </a:avLst>
          </a:prstGeom>
          <a:solidFill>
            <a:srgbClr val="3FE0EA"/>
          </a:solidFill>
          <a:ln/>
        </p:spPr>
        <p:txBody>
          <a:bodyPr wrap="squar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7</a:t>
            </a:r>
            <a:endParaRPr lang="en-US" sz="1200" dirty="0"/>
          </a:p>
        </p:txBody>
      </p:sp>
      <p:sp>
        <p:nvSpPr>
          <p:cNvPr id="56" name="Text 54"/>
          <p:cNvSpPr/>
          <p:nvPr/>
        </p:nvSpPr>
        <p:spPr>
          <a:xfrm>
            <a:off x="1231900" y="5089426"/>
            <a:ext cx="104517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2FF"/>
                </a:solidFill>
                <a:latin typeface="DM Sans" pitchFamily="34" charset="0"/>
                <a:ea typeface="DM Sans" pitchFamily="34" charset="-122"/>
                <a:cs typeface="DM Sans" pitchFamily="34" charset="-120"/>
              </a:rPr>
              <a:t>Termina con la lista de compra</a:t>
            </a:r>
            <a:endParaRPr lang="en-US" sz="1300" dirty="0"/>
          </a:p>
        </p:txBody>
      </p:sp>
      <p:sp>
        <p:nvSpPr>
          <p:cNvPr id="57" name="Text 55"/>
          <p:cNvSpPr/>
          <p:nvPr/>
        </p:nvSpPr>
        <p:spPr>
          <a:xfrm>
            <a:off x="1231900" y="5345906"/>
            <a:ext cx="1313755" cy="213320"/>
          </a:xfrm>
          <a:custGeom>
            <a:avLst/>
            <a:gdLst/>
            <a:ahLst/>
            <a:cxnLst/>
            <a:rect l="l" t="t" r="r" b="b"/>
            <a:pathLst>
              <a:path w="1313755" h="213320">
                <a:moveTo>
                  <a:pt x="38100" y="0"/>
                </a:moveTo>
                <a:lnTo>
                  <a:pt x="1275655" y="0"/>
                </a:lnTo>
                <a:arcTo wR="38100" hR="38100" stAng="16200000" swAng="5400000"/>
                <a:lnTo>
                  <a:pt x="1313755" y="175220"/>
                </a:lnTo>
                <a:arcTo wR="38100" hR="38100" stAng="0" swAng="5400000"/>
                <a:lnTo>
                  <a:pt x="38100" y="2133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ctr">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58" name="Text 56"/>
          <p:cNvSpPr/>
          <p:nvPr/>
        </p:nvSpPr>
        <p:spPr>
          <a:xfrm>
            <a:off x="2609155" y="5345906"/>
            <a:ext cx="36210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2E8"/>
                </a:solidFill>
                <a:latin typeface="JetBrains Mono" pitchFamily="49" charset="0"/>
                <a:ea typeface="JetBrains Mono" pitchFamily="49" charset="-122"/>
                <a:cs typeface="JetBrains Mono" pitchFamily="49" charset="-120"/>
              </a:rPr>
              <a:t>pkg_inventario.sugerir_reposicion</a:t>
            </a:r>
            <a:endParaRPr lang="en-US" sz="1200" dirty="0"/>
          </a:p>
        </p:txBody>
      </p:sp>
      <p:sp>
        <p:nvSpPr>
          <p:cNvPr id="59" name="Text 5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E8A95"/>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E8A95"/>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3FE0EA"/>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3FE0EA"/>
                </a:solidFill>
                <a:latin typeface="Chakra Petch" pitchFamily="34" charset="0"/>
                <a:ea typeface="Chakra Petch" pitchFamily="34" charset="-122"/>
                <a:cs typeface="Chakra Petch" pitchFamily="34" charset="-120"/>
              </a:rPr>
              <a:t>PROCEDIMIENTO · </a:t>
            </a:r>
            <a:r>
              <a:rPr lang="en-US" sz="1400" b="1" kern="0" spc="150" dirty="0">
                <a:solidFill>
                  <a:srgbClr val="EEF2FF"/>
                </a:solidFill>
                <a:latin typeface="Chakra Petch" pitchFamily="34" charset="0"/>
                <a:ea typeface="Chakra Petch" pitchFamily="34" charset="-122"/>
                <a:cs typeface="Chakra Petch" pitchFamily="34" charset="-120"/>
              </a:rPr>
              <a:t>pkg_ventas.vender</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Así se registra una venta</a:t>
            </a:r>
            <a:endParaRPr lang="en-US" sz="3200" dirty="0"/>
          </a:p>
        </p:txBody>
      </p:sp>
      <p:pic>
        <p:nvPicPr>
          <p:cNvPr id="22" name="Image 0" descr="Captura de SQL Developer: pkg_ventas.vender registra la venta 26 por 60000"/>
          <p:cNvPicPr>
            <a:picLocks noChangeAspect="1"/>
          </p:cNvPicPr>
          <p:nvPr/>
        </p:nvPicPr>
        <p:blipFill>
          <a:blip r:embed="rId3"/>
          <a:srcRect t="172" b="172"/>
          <a:stretch/>
        </p:blipFill>
        <p:spPr>
          <a:xfrm>
            <a:off x="831850" y="1832471"/>
            <a:ext cx="6057900" cy="3898900"/>
          </a:xfrm>
          <a:prstGeom prst="roundRect">
            <a:avLst>
              <a:gd name="adj" fmla="val 2117"/>
            </a:avLst>
          </a:prstGeom>
        </p:spPr>
      </p:pic>
      <p:sp>
        <p:nvSpPr>
          <p:cNvPr id="23" name="Shape 20"/>
          <p:cNvSpPr/>
          <p:nvPr/>
        </p:nvSpPr>
        <p:spPr>
          <a:xfrm>
            <a:off x="822325" y="1822946"/>
            <a:ext cx="6076950" cy="3917950"/>
          </a:xfrm>
          <a:prstGeom prst="roundRect">
            <a:avLst>
              <a:gd name="adj" fmla="val 2350"/>
            </a:avLst>
          </a:prstGeom>
          <a:noFill/>
          <a:ln w="19050">
            <a:solidFill>
              <a:srgbClr val="3FE0EA"/>
            </a:solidFill>
            <a:prstDash val="solid"/>
          </a:ln>
        </p:spPr>
      </p:sp>
      <p:sp>
        <p:nvSpPr>
          <p:cNvPr id="24" name="Text 21"/>
          <p:cNvSpPr/>
          <p:nvPr/>
        </p:nvSpPr>
        <p:spPr>
          <a:xfrm>
            <a:off x="7137400" y="1813421"/>
            <a:ext cx="1339155" cy="238720"/>
          </a:xfrm>
          <a:custGeom>
            <a:avLst/>
            <a:gdLst/>
            <a:ahLst/>
            <a:cxnLst/>
            <a:rect l="l" t="t" r="r" b="b"/>
            <a:pathLst>
              <a:path w="1339155" h="238720">
                <a:moveTo>
                  <a:pt x="38100" y="0"/>
                </a:moveTo>
                <a:lnTo>
                  <a:pt x="1301055" y="0"/>
                </a:lnTo>
                <a:arcTo wR="38100" hR="38100" stAng="16200000" swAng="5400000"/>
                <a:lnTo>
                  <a:pt x="1339155" y="200620"/>
                </a:lnTo>
                <a:arcTo wR="38100" hR="38100" stAng="0" swAng="5400000"/>
                <a:lnTo>
                  <a:pt x="38100" y="238720"/>
                </a:lnTo>
                <a:arcTo wR="38100" hR="38100" stAng="5400000" swAng="5400000"/>
                <a:lnTo>
                  <a:pt x="0" y="38100"/>
                </a:lnTo>
                <a:arcTo wR="38100" hR="38100" stAng="10800000" swAng="5400000"/>
                <a:close/>
              </a:path>
            </a:pathLst>
          </a:custGeom>
          <a:solidFill>
            <a:srgbClr val="3FE0EA"/>
          </a:solidFill>
          <a:ln/>
        </p:spPr>
        <p:txBody>
          <a:bodyPr wrap="none" lIns="0" tIns="0" rIns="0" bIns="0" rtlCol="0" anchor="t">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PROCEDIMIENTO</a:t>
            </a:r>
            <a:endParaRPr lang="en-US" sz="1200" dirty="0"/>
          </a:p>
        </p:txBody>
      </p:sp>
      <p:sp>
        <p:nvSpPr>
          <p:cNvPr id="25" name="Text 22"/>
          <p:cNvSpPr/>
          <p:nvPr/>
        </p:nvSpPr>
        <p:spPr>
          <a:xfrm>
            <a:off x="8546405" y="1819771"/>
            <a:ext cx="1212453" cy="226020"/>
          </a:xfrm>
          <a:prstGeom prst="roundRect">
            <a:avLst>
              <a:gd name="adj" fmla="val 14047"/>
            </a:avLst>
          </a:prstGeom>
          <a:noFill/>
          <a:ln w="12700">
            <a:solidFill>
              <a:srgbClr val="3FE0EA"/>
            </a:solidFill>
            <a:prstDash val="solid"/>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EN pkg_ventas</a:t>
            </a:r>
            <a:endParaRPr lang="en-US" sz="1200" dirty="0"/>
          </a:p>
        </p:txBody>
      </p:sp>
      <p:sp>
        <p:nvSpPr>
          <p:cNvPr id="26" name="Text 23"/>
          <p:cNvSpPr/>
          <p:nvPr/>
        </p:nvSpPr>
        <p:spPr>
          <a:xfrm>
            <a:off x="7137400" y="2128341"/>
            <a:ext cx="436905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F"/>
                </a:solidFill>
                <a:latin typeface="JetBrains Mono" pitchFamily="49" charset="0"/>
                <a:ea typeface="JetBrains Mono" pitchFamily="49" charset="-122"/>
                <a:cs typeface="JetBrains Mono" pitchFamily="49" charset="-120"/>
              </a:rPr>
              <a:t>pkg_ventas.vender</a:t>
            </a:r>
            <a:endParaRPr lang="en-US" sz="1300" dirty="0"/>
          </a:p>
        </p:txBody>
      </p:sp>
      <p:sp>
        <p:nvSpPr>
          <p:cNvPr id="27" name="Text 24"/>
          <p:cNvSpPr/>
          <p:nvPr/>
        </p:nvSpPr>
        <p:spPr>
          <a:xfrm>
            <a:off x="7137400" y="2448322"/>
            <a:ext cx="588963" cy="195560"/>
          </a:xfrm>
          <a:custGeom>
            <a:avLst/>
            <a:gdLst/>
            <a:ahLst/>
            <a:cxnLst/>
            <a:rect l="l" t="t" r="r" b="b"/>
            <a:pathLst>
              <a:path w="588963" h="195560">
                <a:moveTo>
                  <a:pt x="31750" y="0"/>
                </a:moveTo>
                <a:lnTo>
                  <a:pt x="557213" y="0"/>
                </a:lnTo>
                <a:arcTo wR="31750" hR="31750" stAng="16200000" swAng="5400000"/>
                <a:lnTo>
                  <a:pt x="588963" y="163810"/>
                </a:lnTo>
                <a:arcTo wR="31750" hR="31750" stAng="0" swAng="5400000"/>
                <a:lnTo>
                  <a:pt x="31750" y="195560"/>
                </a:lnTo>
                <a:arcTo wR="31750" hR="31750" stAng="5400000" swAng="5400000"/>
                <a:lnTo>
                  <a:pt x="0" y="31750"/>
                </a:lnTo>
                <a:arcTo wR="31750" hR="31750" stAng="10800000" swAng="5400000"/>
                <a:close/>
              </a:path>
            </a:pathLst>
          </a:custGeom>
          <a:solidFill>
            <a:srgbClr val="3FE0EA"/>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RECIBE</a:t>
            </a:r>
            <a:endParaRPr lang="en-US" sz="1100" dirty="0"/>
          </a:p>
        </p:txBody>
      </p:sp>
      <p:sp>
        <p:nvSpPr>
          <p:cNvPr id="28" name="Text 25"/>
          <p:cNvSpPr/>
          <p:nvPr/>
        </p:nvSpPr>
        <p:spPr>
          <a:xfrm>
            <a:off x="7789862" y="2435622"/>
            <a:ext cx="253222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cliente, videojuego y cantidad</a:t>
            </a:r>
            <a:endParaRPr lang="en-US" sz="1200" dirty="0"/>
          </a:p>
        </p:txBody>
      </p:sp>
      <p:sp>
        <p:nvSpPr>
          <p:cNvPr id="29" name="Text 26"/>
          <p:cNvSpPr/>
          <p:nvPr/>
        </p:nvSpPr>
        <p:spPr>
          <a:xfrm>
            <a:off x="7137400" y="2720082"/>
            <a:ext cx="436905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8C2E8"/>
                </a:solidFill>
                <a:latin typeface="Chakra Petch" pitchFamily="34" charset="0"/>
                <a:ea typeface="Chakra Petch" pitchFamily="34" charset="-122"/>
                <a:cs typeface="Chakra Petch" pitchFamily="34" charset="-120"/>
              </a:rPr>
              <a:t>QUÉ HACE EN LA TIENDA</a:t>
            </a:r>
            <a:endParaRPr lang="en-US" sz="1100" dirty="0"/>
          </a:p>
        </p:txBody>
      </p:sp>
      <p:sp>
        <p:nvSpPr>
          <p:cNvPr id="30" name="Text 27"/>
          <p:cNvSpPr/>
          <p:nvPr/>
        </p:nvSpPr>
        <p:spPr>
          <a:xfrm>
            <a:off x="7137400" y="3004542"/>
            <a:ext cx="137418"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3FE0EA"/>
                </a:solidFill>
                <a:latin typeface="Chakra Petch" pitchFamily="34" charset="0"/>
                <a:ea typeface="Chakra Petch" pitchFamily="34" charset="-122"/>
                <a:cs typeface="Chakra Petch" pitchFamily="34" charset="-120"/>
              </a:rPr>
              <a:t>1.</a:t>
            </a:r>
            <a:endParaRPr lang="en-US" sz="1100" dirty="0"/>
          </a:p>
        </p:txBody>
      </p:sp>
      <p:sp>
        <p:nvSpPr>
          <p:cNvPr id="31" name="Text 28"/>
          <p:cNvSpPr/>
          <p:nvPr/>
        </p:nvSpPr>
        <p:spPr>
          <a:xfrm>
            <a:off x="7287518" y="2991842"/>
            <a:ext cx="427827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Busca el precio de lista con </a:t>
            </a:r>
            <a:r>
              <a:rPr lang="en-US" sz="1200" dirty="0">
                <a:solidFill>
                  <a:srgbClr val="3FE0EA"/>
                </a:solidFill>
                <a:latin typeface="DM Sans" pitchFamily="34" charset="0"/>
                <a:ea typeface="DM Sans" pitchFamily="34" charset="-122"/>
                <a:cs typeface="DM Sans" pitchFamily="34" charset="-120"/>
              </a:rPr>
              <a:t>fn_precio_videojuego</a:t>
            </a:r>
            <a:r>
              <a:rPr lang="en-US" sz="1200" dirty="0">
                <a:solidFill>
                  <a:srgbClr val="EEF2FF"/>
                </a:solidFill>
                <a:latin typeface="DM Sans" pitchFamily="34" charset="0"/>
                <a:ea typeface="DM Sans" pitchFamily="34" charset="-122"/>
                <a:cs typeface="DM Sans" pitchFamily="34" charset="-120"/>
              </a:rPr>
              <a:t>.</a:t>
            </a:r>
            <a:endParaRPr lang="en-US" sz="1200" dirty="0"/>
          </a:p>
        </p:txBody>
      </p:sp>
      <p:sp>
        <p:nvSpPr>
          <p:cNvPr id="32" name="Text 29"/>
          <p:cNvSpPr/>
          <p:nvPr/>
        </p:nvSpPr>
        <p:spPr>
          <a:xfrm>
            <a:off x="7137400" y="3250902"/>
            <a:ext cx="164306"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3FE0EA"/>
                </a:solidFill>
                <a:latin typeface="Chakra Petch" pitchFamily="34" charset="0"/>
                <a:ea typeface="Chakra Petch" pitchFamily="34" charset="-122"/>
                <a:cs typeface="Chakra Petch" pitchFamily="34" charset="-120"/>
              </a:rPr>
              <a:t>2.</a:t>
            </a:r>
            <a:endParaRPr lang="en-US" sz="1100" dirty="0"/>
          </a:p>
        </p:txBody>
      </p:sp>
      <p:sp>
        <p:nvSpPr>
          <p:cNvPr id="33" name="Text 30"/>
          <p:cNvSpPr/>
          <p:nvPr/>
        </p:nvSpPr>
        <p:spPr>
          <a:xfrm>
            <a:off x="7314406" y="3238202"/>
            <a:ext cx="323850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Valida la cantidad, el cliente y el stock.</a:t>
            </a:r>
            <a:endParaRPr lang="en-US" sz="1200" dirty="0"/>
          </a:p>
        </p:txBody>
      </p:sp>
      <p:sp>
        <p:nvSpPr>
          <p:cNvPr id="34" name="Text 31"/>
          <p:cNvSpPr/>
          <p:nvPr/>
        </p:nvSpPr>
        <p:spPr>
          <a:xfrm>
            <a:off x="7137400" y="3497263"/>
            <a:ext cx="166291"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3FE0EA"/>
                </a:solidFill>
                <a:latin typeface="Chakra Petch" pitchFamily="34" charset="0"/>
                <a:ea typeface="Chakra Petch" pitchFamily="34" charset="-122"/>
                <a:cs typeface="Chakra Petch" pitchFamily="34" charset="-120"/>
              </a:rPr>
              <a:t>3.</a:t>
            </a:r>
            <a:endParaRPr lang="en-US" sz="1100" dirty="0"/>
          </a:p>
        </p:txBody>
      </p:sp>
      <p:sp>
        <p:nvSpPr>
          <p:cNvPr id="35" name="Text 32"/>
          <p:cNvSpPr/>
          <p:nvPr/>
        </p:nvSpPr>
        <p:spPr>
          <a:xfrm>
            <a:off x="7316391" y="3484563"/>
            <a:ext cx="3222784"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Bloquea el juego y descuenta el stock.</a:t>
            </a:r>
            <a:endParaRPr lang="en-US" sz="1200" dirty="0"/>
          </a:p>
        </p:txBody>
      </p:sp>
      <p:sp>
        <p:nvSpPr>
          <p:cNvPr id="36" name="Text 33"/>
          <p:cNvSpPr/>
          <p:nvPr/>
        </p:nvSpPr>
        <p:spPr>
          <a:xfrm>
            <a:off x="7137400" y="3743623"/>
            <a:ext cx="1636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3FE0EA"/>
                </a:solidFill>
                <a:latin typeface="Chakra Petch" pitchFamily="34" charset="0"/>
                <a:ea typeface="Chakra Petch" pitchFamily="34" charset="-122"/>
                <a:cs typeface="Chakra Petch" pitchFamily="34" charset="-120"/>
              </a:rPr>
              <a:t>4.</a:t>
            </a:r>
            <a:endParaRPr lang="en-US" sz="1100" dirty="0"/>
          </a:p>
        </p:txBody>
      </p:sp>
      <p:sp>
        <p:nvSpPr>
          <p:cNvPr id="37" name="Text 34"/>
          <p:cNvSpPr/>
          <p:nvPr/>
        </p:nvSpPr>
        <p:spPr>
          <a:xfrm>
            <a:off x="7313712" y="3730923"/>
            <a:ext cx="238315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Guarda la venta y su detalle.</a:t>
            </a:r>
            <a:endParaRPr lang="en-US" sz="1200" dirty="0"/>
          </a:p>
        </p:txBody>
      </p:sp>
      <p:sp>
        <p:nvSpPr>
          <p:cNvPr id="38" name="Text 35"/>
          <p:cNvSpPr/>
          <p:nvPr/>
        </p:nvSpPr>
        <p:spPr>
          <a:xfrm>
            <a:off x="7137400" y="4028083"/>
            <a:ext cx="727472" cy="195560"/>
          </a:xfrm>
          <a:custGeom>
            <a:avLst/>
            <a:gdLst/>
            <a:ahLst/>
            <a:cxnLst/>
            <a:rect l="l" t="t" r="r" b="b"/>
            <a:pathLst>
              <a:path w="727472" h="195560">
                <a:moveTo>
                  <a:pt x="31750" y="0"/>
                </a:moveTo>
                <a:lnTo>
                  <a:pt x="695722" y="0"/>
                </a:lnTo>
                <a:arcTo wR="31750" hR="31750" stAng="16200000" swAng="5400000"/>
                <a:lnTo>
                  <a:pt x="727472"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ENTREGA</a:t>
            </a:r>
            <a:endParaRPr lang="en-US" sz="1100" dirty="0"/>
          </a:p>
        </p:txBody>
      </p:sp>
      <p:sp>
        <p:nvSpPr>
          <p:cNvPr id="39" name="Text 36"/>
          <p:cNvSpPr/>
          <p:nvPr/>
        </p:nvSpPr>
        <p:spPr>
          <a:xfrm>
            <a:off x="7928372" y="4015383"/>
            <a:ext cx="235589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el número de la venta (OUT)</a:t>
            </a:r>
            <a:endParaRPr lang="en-US" sz="1200" dirty="0"/>
          </a:p>
        </p:txBody>
      </p:sp>
      <p:sp>
        <p:nvSpPr>
          <p:cNvPr id="40" name="Text 37"/>
          <p:cNvSpPr/>
          <p:nvPr/>
        </p:nvSpPr>
        <p:spPr>
          <a:xfrm>
            <a:off x="7137400" y="4299843"/>
            <a:ext cx="4369054"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EEF2FF"/>
                </a:solidFill>
                <a:latin typeface="DM Sans" pitchFamily="34" charset="0"/>
                <a:ea typeface="DM Sans" pitchFamily="34" charset="-122"/>
                <a:cs typeface="DM Sans" pitchFamily="34" charset="-120"/>
              </a:rPr>
              <a:t>¿Por qué en un package?</a:t>
            </a:r>
            <a:r>
              <a:rPr lang="en-US" sz="1200" dirty="0">
                <a:solidFill>
                  <a:srgbClr val="B8C2E8"/>
                </a:solidFill>
                <a:latin typeface="DM Sans" pitchFamily="34" charset="0"/>
                <a:ea typeface="DM Sans" pitchFamily="34" charset="-122"/>
                <a:cs typeface="DM Sans" pitchFamily="34" charset="-120"/>
              </a:rPr>
              <a:t> Agrupa lo de ventas y usa sus validaciones privadas.</a:t>
            </a:r>
            <a:endParaRPr lang="en-US" sz="1200" dirty="0"/>
          </a:p>
        </p:txBody>
      </p:sp>
      <p:sp>
        <p:nvSpPr>
          <p:cNvPr id="41" name="Shape 38"/>
          <p:cNvSpPr/>
          <p:nvPr/>
        </p:nvSpPr>
        <p:spPr>
          <a:xfrm>
            <a:off x="7137400" y="4778474"/>
            <a:ext cx="4241800" cy="0"/>
          </a:xfrm>
          <a:prstGeom prst="line">
            <a:avLst/>
          </a:prstGeom>
          <a:noFill/>
          <a:ln w="12700">
            <a:solidFill>
              <a:srgbClr val="2B3672"/>
            </a:solidFill>
            <a:prstDash val="solid"/>
          </a:ln>
        </p:spPr>
      </p:sp>
      <p:sp>
        <p:nvSpPr>
          <p:cNvPr id="42" name="Text 39"/>
          <p:cNvSpPr/>
          <p:nvPr/>
        </p:nvSpPr>
        <p:spPr>
          <a:xfrm>
            <a:off x="7137400" y="4848324"/>
            <a:ext cx="43690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E0EA"/>
                </a:solidFill>
                <a:latin typeface="DM Sans" pitchFamily="34" charset="0"/>
                <a:ea typeface="DM Sans" pitchFamily="34" charset="-122"/>
                <a:cs typeface="DM Sans" pitchFamily="34" charset="-120"/>
              </a:rPr>
              <a:t>Resultado: venta de $60.000</a:t>
            </a:r>
            <a:endParaRPr lang="en-US" sz="1200" dirty="0"/>
          </a:p>
        </p:txBody>
      </p:sp>
      <p:sp>
        <p:nvSpPr>
          <p:cNvPr id="43" name="Text 4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09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A4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E8A95"/>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E8A95"/>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3FE0EA"/>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7C1FF"/>
                </a:solidFill>
                <a:latin typeface="Chakra Petch" pitchFamily="34" charset="0"/>
                <a:ea typeface="Chakra Petch" pitchFamily="34" charset="-122"/>
                <a:cs typeface="Chakra Petch" pitchFamily="34" charset="-120"/>
              </a:rPr>
              <a:t>FUNCIÓN · </a:t>
            </a:r>
            <a:r>
              <a:rPr lang="en-US" sz="1400" b="1" kern="0" spc="150" dirty="0">
                <a:solidFill>
                  <a:srgbClr val="EEF2FF"/>
                </a:solidFill>
                <a:latin typeface="Chakra Petch" pitchFamily="34" charset="0"/>
                <a:ea typeface="Chakra Petch" pitchFamily="34" charset="-122"/>
                <a:cs typeface="Chakra Petch" pitchFamily="34" charset="-120"/>
              </a:rPr>
              <a:t>fn_unidades_vendidas</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Así se sabe cuánto vende cada juego</a:t>
            </a:r>
            <a:endParaRPr lang="en-US" sz="3200" dirty="0"/>
          </a:p>
        </p:txBody>
      </p:sp>
      <p:pic>
        <p:nvPicPr>
          <p:cNvPr id="22" name="Image 0" descr="Captura de SQL Developer: SELECT con fn_unidades_vendidas y el estado de cada juego"/>
          <p:cNvPicPr>
            <a:picLocks noChangeAspect="1"/>
          </p:cNvPicPr>
          <p:nvPr/>
        </p:nvPicPr>
        <p:blipFill>
          <a:blip r:embed="rId3"/>
          <a:srcRect t="172" b="172"/>
          <a:stretch/>
        </p:blipFill>
        <p:spPr>
          <a:xfrm>
            <a:off x="831850" y="1832471"/>
            <a:ext cx="6057900" cy="3898900"/>
          </a:xfrm>
          <a:prstGeom prst="roundRect">
            <a:avLst>
              <a:gd name="adj" fmla="val 2117"/>
            </a:avLst>
          </a:prstGeom>
        </p:spPr>
      </p:pic>
      <p:sp>
        <p:nvSpPr>
          <p:cNvPr id="23" name="Shape 20"/>
          <p:cNvSpPr/>
          <p:nvPr/>
        </p:nvSpPr>
        <p:spPr>
          <a:xfrm>
            <a:off x="822325" y="1822946"/>
            <a:ext cx="6076950" cy="3917950"/>
          </a:xfrm>
          <a:prstGeom prst="roundRect">
            <a:avLst>
              <a:gd name="adj" fmla="val 2350"/>
            </a:avLst>
          </a:prstGeom>
          <a:noFill/>
          <a:ln w="19050">
            <a:solidFill>
              <a:srgbClr val="E7C1FF"/>
            </a:solidFill>
            <a:prstDash val="solid"/>
          </a:ln>
        </p:spPr>
      </p:sp>
      <p:sp>
        <p:nvSpPr>
          <p:cNvPr id="24" name="Text 21"/>
          <p:cNvSpPr/>
          <p:nvPr/>
        </p:nvSpPr>
        <p:spPr>
          <a:xfrm>
            <a:off x="7137400" y="1813421"/>
            <a:ext cx="799108" cy="238720"/>
          </a:xfrm>
          <a:custGeom>
            <a:avLst/>
            <a:gdLst/>
            <a:ahLst/>
            <a:cxnLst/>
            <a:rect l="l" t="t" r="r" b="b"/>
            <a:pathLst>
              <a:path w="799108" h="238720">
                <a:moveTo>
                  <a:pt x="38100" y="0"/>
                </a:moveTo>
                <a:lnTo>
                  <a:pt x="761008" y="0"/>
                </a:lnTo>
                <a:arcTo wR="38100" hR="38100" stAng="16200000" swAng="5400000"/>
                <a:lnTo>
                  <a:pt x="799108" y="200620"/>
                </a:lnTo>
                <a:arcTo wR="38100" hR="38100" stAng="0" swAng="5400000"/>
                <a:lnTo>
                  <a:pt x="38100" y="238720"/>
                </a:lnTo>
                <a:arcTo wR="38100" hR="38100" stAng="5400000" swAng="5400000"/>
                <a:lnTo>
                  <a:pt x="0" y="38100"/>
                </a:lnTo>
                <a:arcTo wR="38100" hR="38100" stAng="10800000" swAng="5400000"/>
                <a:close/>
              </a:path>
            </a:pathLst>
          </a:custGeom>
          <a:solidFill>
            <a:srgbClr val="E7C1FF"/>
          </a:solidFill>
          <a:ln/>
        </p:spPr>
        <p:txBody>
          <a:bodyPr wrap="none" lIns="0" tIns="0" rIns="0" bIns="0" rtlCol="0" anchor="t">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FUNCIÓN</a:t>
            </a:r>
            <a:endParaRPr lang="en-US" sz="1200" dirty="0"/>
          </a:p>
        </p:txBody>
      </p:sp>
      <p:sp>
        <p:nvSpPr>
          <p:cNvPr id="25" name="Text 22"/>
          <p:cNvSpPr/>
          <p:nvPr/>
        </p:nvSpPr>
        <p:spPr>
          <a:xfrm>
            <a:off x="8006358" y="1819771"/>
            <a:ext cx="1402755" cy="226020"/>
          </a:xfrm>
          <a:prstGeom prst="roundRect">
            <a:avLst>
              <a:gd name="adj" fmla="val 14047"/>
            </a:avLst>
          </a:prstGeom>
          <a:noFill/>
          <a:ln w="12700">
            <a:solidFill>
              <a:srgbClr val="E7C1FF"/>
            </a:solidFill>
            <a:prstDash val="solid"/>
          </a:ln>
        </p:spPr>
        <p:txBody>
          <a:bodyPr wrap="none" lIns="0" tIns="0" rIns="0" bIns="0" rtlCol="0" anchor="ctr">
            <a:normAutofit/>
          </a:bodyPr>
          <a:lstStyle/>
          <a:p>
            <a:pPr marL="0" indent="0" algn="ctr">
              <a:lnSpc>
                <a:spcPts val="1680"/>
              </a:lnSpc>
              <a:buNone/>
            </a:pPr>
            <a:r>
              <a:rPr lang="en-US" sz="1200" b="1" dirty="0">
                <a:solidFill>
                  <a:srgbClr val="E7C1FF"/>
                </a:solidFill>
                <a:latin typeface="Chakra Petch" pitchFamily="34" charset="0"/>
                <a:ea typeface="Chakra Petch" pitchFamily="34" charset="-122"/>
                <a:cs typeface="Chakra Petch" pitchFamily="34" charset="-120"/>
              </a:rPr>
              <a:t>CON PARÁMETRO</a:t>
            </a:r>
            <a:endParaRPr lang="en-US" sz="1200" dirty="0"/>
          </a:p>
        </p:txBody>
      </p:sp>
      <p:sp>
        <p:nvSpPr>
          <p:cNvPr id="26" name="Text 23"/>
          <p:cNvSpPr/>
          <p:nvPr/>
        </p:nvSpPr>
        <p:spPr>
          <a:xfrm>
            <a:off x="7137400" y="2128341"/>
            <a:ext cx="436905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F"/>
                </a:solidFill>
                <a:latin typeface="JetBrains Mono" pitchFamily="49" charset="0"/>
                <a:ea typeface="JetBrains Mono" pitchFamily="49" charset="-122"/>
                <a:cs typeface="JetBrains Mono" pitchFamily="49" charset="-120"/>
              </a:rPr>
              <a:t>fn_unidades_vendidas</a:t>
            </a:r>
            <a:endParaRPr lang="en-US" sz="1300" dirty="0"/>
          </a:p>
        </p:txBody>
      </p:sp>
      <p:sp>
        <p:nvSpPr>
          <p:cNvPr id="27" name="Text 24"/>
          <p:cNvSpPr/>
          <p:nvPr/>
        </p:nvSpPr>
        <p:spPr>
          <a:xfrm>
            <a:off x="7137400" y="2448322"/>
            <a:ext cx="588963" cy="195560"/>
          </a:xfrm>
          <a:custGeom>
            <a:avLst/>
            <a:gdLst/>
            <a:ahLst/>
            <a:cxnLst/>
            <a:rect l="l" t="t" r="r" b="b"/>
            <a:pathLst>
              <a:path w="588963" h="195560">
                <a:moveTo>
                  <a:pt x="31750" y="0"/>
                </a:moveTo>
                <a:lnTo>
                  <a:pt x="557213" y="0"/>
                </a:lnTo>
                <a:arcTo wR="31750" hR="31750" stAng="16200000" swAng="5400000"/>
                <a:lnTo>
                  <a:pt x="588963" y="163810"/>
                </a:lnTo>
                <a:arcTo wR="31750" hR="31750" stAng="0" swAng="5400000"/>
                <a:lnTo>
                  <a:pt x="31750" y="195560"/>
                </a:lnTo>
                <a:arcTo wR="31750" hR="31750" stAng="5400000" swAng="5400000"/>
                <a:lnTo>
                  <a:pt x="0" y="31750"/>
                </a:lnTo>
                <a:arcTo wR="31750" hR="31750" stAng="10800000" swAng="5400000"/>
                <a:close/>
              </a:path>
            </a:pathLst>
          </a:custGeom>
          <a:solidFill>
            <a:srgbClr val="3FE0EA"/>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RECIBE</a:t>
            </a:r>
            <a:endParaRPr lang="en-US" sz="1100" dirty="0"/>
          </a:p>
        </p:txBody>
      </p:sp>
      <p:sp>
        <p:nvSpPr>
          <p:cNvPr id="28" name="Text 25"/>
          <p:cNvSpPr/>
          <p:nvPr/>
        </p:nvSpPr>
        <p:spPr>
          <a:xfrm>
            <a:off x="7789862" y="2435622"/>
            <a:ext cx="1635204"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el id del videojuego</a:t>
            </a:r>
            <a:endParaRPr lang="en-US" sz="1200" dirty="0"/>
          </a:p>
        </p:txBody>
      </p:sp>
      <p:sp>
        <p:nvSpPr>
          <p:cNvPr id="29" name="Text 26"/>
          <p:cNvSpPr/>
          <p:nvPr/>
        </p:nvSpPr>
        <p:spPr>
          <a:xfrm>
            <a:off x="7137400" y="2720082"/>
            <a:ext cx="436905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8C2E8"/>
                </a:solidFill>
                <a:latin typeface="Chakra Petch" pitchFamily="34" charset="0"/>
                <a:ea typeface="Chakra Petch" pitchFamily="34" charset="-122"/>
                <a:cs typeface="Chakra Petch" pitchFamily="34" charset="-120"/>
              </a:rPr>
              <a:t>QUÉ HACE EN LA TIENDA</a:t>
            </a:r>
            <a:endParaRPr lang="en-US" sz="1100" dirty="0"/>
          </a:p>
        </p:txBody>
      </p:sp>
      <p:sp>
        <p:nvSpPr>
          <p:cNvPr id="30" name="Text 27"/>
          <p:cNvSpPr/>
          <p:nvPr/>
        </p:nvSpPr>
        <p:spPr>
          <a:xfrm>
            <a:off x="7137400" y="3004542"/>
            <a:ext cx="137418"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E7C1FF"/>
                </a:solidFill>
                <a:latin typeface="Chakra Petch" pitchFamily="34" charset="0"/>
                <a:ea typeface="Chakra Petch" pitchFamily="34" charset="-122"/>
                <a:cs typeface="Chakra Petch" pitchFamily="34" charset="-120"/>
              </a:rPr>
              <a:t>1.</a:t>
            </a:r>
            <a:endParaRPr lang="en-US" sz="1100" dirty="0"/>
          </a:p>
        </p:txBody>
      </p:sp>
      <p:sp>
        <p:nvSpPr>
          <p:cNvPr id="31" name="Text 28"/>
          <p:cNvSpPr/>
          <p:nvPr/>
        </p:nvSpPr>
        <p:spPr>
          <a:xfrm>
            <a:off x="7287518" y="2991842"/>
            <a:ext cx="4809768"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Suma las copias vendidas de ese juego en </a:t>
            </a:r>
            <a:r>
              <a:rPr lang="en-US" sz="1200" dirty="0">
                <a:solidFill>
                  <a:srgbClr val="3FE0EA"/>
                </a:solidFill>
                <a:latin typeface="DM Sans" pitchFamily="34" charset="0"/>
                <a:ea typeface="DM Sans" pitchFamily="34" charset="-122"/>
                <a:cs typeface="DM Sans" pitchFamily="34" charset="-120"/>
              </a:rPr>
              <a:t>detalle_venta</a:t>
            </a:r>
            <a:r>
              <a:rPr lang="en-US" sz="1200" dirty="0">
                <a:solidFill>
                  <a:srgbClr val="EEF2FF"/>
                </a:solidFill>
                <a:latin typeface="DM Sans" pitchFamily="34" charset="0"/>
                <a:ea typeface="DM Sans" pitchFamily="34" charset="-122"/>
                <a:cs typeface="DM Sans" pitchFamily="34" charset="-120"/>
              </a:rPr>
              <a:t>.</a:t>
            </a:r>
            <a:endParaRPr lang="en-US" sz="1200" dirty="0"/>
          </a:p>
        </p:txBody>
      </p:sp>
      <p:sp>
        <p:nvSpPr>
          <p:cNvPr id="32" name="Text 29"/>
          <p:cNvSpPr/>
          <p:nvPr/>
        </p:nvSpPr>
        <p:spPr>
          <a:xfrm>
            <a:off x="7137400" y="3250902"/>
            <a:ext cx="164306"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E7C1FF"/>
                </a:solidFill>
                <a:latin typeface="Chakra Petch" pitchFamily="34" charset="0"/>
                <a:ea typeface="Chakra Petch" pitchFamily="34" charset="-122"/>
                <a:cs typeface="Chakra Petch" pitchFamily="34" charset="-120"/>
              </a:rPr>
              <a:t>2.</a:t>
            </a:r>
            <a:endParaRPr lang="en-US" sz="1100" dirty="0"/>
          </a:p>
        </p:txBody>
      </p:sp>
      <p:sp>
        <p:nvSpPr>
          <p:cNvPr id="33" name="Text 30"/>
          <p:cNvSpPr/>
          <p:nvPr/>
        </p:nvSpPr>
        <p:spPr>
          <a:xfrm>
            <a:off x="7314406" y="3238202"/>
            <a:ext cx="261913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Si nunca se vendió, devuelve 0.</a:t>
            </a:r>
            <a:endParaRPr lang="en-US" sz="1200" dirty="0"/>
          </a:p>
        </p:txBody>
      </p:sp>
      <p:sp>
        <p:nvSpPr>
          <p:cNvPr id="34" name="Text 31"/>
          <p:cNvSpPr/>
          <p:nvPr/>
        </p:nvSpPr>
        <p:spPr>
          <a:xfrm>
            <a:off x="7137400" y="3535363"/>
            <a:ext cx="727472" cy="195560"/>
          </a:xfrm>
          <a:custGeom>
            <a:avLst/>
            <a:gdLst/>
            <a:ahLst/>
            <a:cxnLst/>
            <a:rect l="l" t="t" r="r" b="b"/>
            <a:pathLst>
              <a:path w="727472" h="195560">
                <a:moveTo>
                  <a:pt x="31750" y="0"/>
                </a:moveTo>
                <a:lnTo>
                  <a:pt x="695722" y="0"/>
                </a:lnTo>
                <a:arcTo wR="31750" hR="31750" stAng="16200000" swAng="5400000"/>
                <a:lnTo>
                  <a:pt x="727472"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ENTREGA</a:t>
            </a:r>
            <a:endParaRPr lang="en-US" sz="1100" dirty="0"/>
          </a:p>
        </p:txBody>
      </p:sp>
      <p:sp>
        <p:nvSpPr>
          <p:cNvPr id="35" name="Text 32"/>
          <p:cNvSpPr/>
          <p:nvPr/>
        </p:nvSpPr>
        <p:spPr>
          <a:xfrm>
            <a:off x="7928372" y="3522663"/>
            <a:ext cx="272712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las unidades vendidas (RETURN)</a:t>
            </a:r>
            <a:endParaRPr lang="en-US" sz="1200" dirty="0"/>
          </a:p>
        </p:txBody>
      </p:sp>
      <p:sp>
        <p:nvSpPr>
          <p:cNvPr id="36" name="Text 33"/>
          <p:cNvSpPr/>
          <p:nvPr/>
        </p:nvSpPr>
        <p:spPr>
          <a:xfrm>
            <a:off x="7137400" y="3807123"/>
            <a:ext cx="436905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8C2E8"/>
                </a:solidFill>
                <a:latin typeface="Chakra Petch" pitchFamily="34" charset="0"/>
                <a:ea typeface="Chakra Petch" pitchFamily="34" charset="-122"/>
                <a:cs typeface="Chakra Petch" pitchFamily="34" charset="-120"/>
              </a:rPr>
              <a:t>SE USA EN SQL Y EN PL/SQL</a:t>
            </a:r>
            <a:endParaRPr lang="en-US" sz="1100" dirty="0"/>
          </a:p>
        </p:txBody>
      </p:sp>
      <p:sp>
        <p:nvSpPr>
          <p:cNvPr id="37" name="Text 34"/>
          <p:cNvSpPr/>
          <p:nvPr/>
        </p:nvSpPr>
        <p:spPr>
          <a:xfrm>
            <a:off x="7137400" y="4078883"/>
            <a:ext cx="4241800" cy="688280"/>
          </a:xfrm>
          <a:prstGeom prst="roundRect">
            <a:avLst>
              <a:gd name="adj" fmla="val 7381"/>
            </a:avLst>
          </a:prstGeom>
          <a:solidFill>
            <a:srgbClr val="0D1230"/>
          </a:solidFill>
          <a:ln/>
        </p:spPr>
        <p:txBody>
          <a:bodyPr wrap="square" lIns="74021" tIns="35921" rIns="0" bIns="10521" rtlCol="0" anchor="t">
            <a:normAutofit/>
          </a:bodyPr>
          <a:lstStyle/>
          <a:p>
            <a:pPr marL="0" indent="0" algn="l">
              <a:lnSpc>
                <a:spcPts val="1540"/>
              </a:lnSpc>
              <a:buNone/>
            </a:pPr>
            <a:r>
              <a:rPr lang="en-US" sz="1100" dirty="0">
                <a:solidFill>
                  <a:srgbClr val="EEF2FF"/>
                </a:solidFill>
                <a:latin typeface="JetBrains Mono" pitchFamily="49" charset="0"/>
                <a:ea typeface="JetBrains Mono" pitchFamily="49" charset="-122"/>
                <a:cs typeface="JetBrains Mono" pitchFamily="49" charset="-120"/>
              </a:rPr>
              <a:t>SELECT nombre,</a:t>
            </a:r>
            <a:endParaRPr lang="en-US" sz="1100" dirty="0"/>
          </a:p>
          <a:p>
            <a:pPr marL="0" indent="0" algn="l">
              <a:lnSpc>
                <a:spcPts val="1540"/>
              </a:lnSpc>
              <a:buNone/>
            </a:pPr>
            <a:r>
              <a:rPr lang="en-US" sz="1100" dirty="0">
                <a:solidFill>
                  <a:srgbClr val="EEF2FF"/>
                </a:solidFill>
                <a:latin typeface="JetBrains Mono" pitchFamily="49" charset="0"/>
                <a:ea typeface="JetBrains Mono" pitchFamily="49" charset="-122"/>
                <a:cs typeface="JetBrains Mono" pitchFamily="49" charset="-120"/>
              </a:rPr>
              <a:t> fn_unidades_vendidas(id_videojuego)</a:t>
            </a:r>
            <a:endParaRPr lang="en-US" sz="1100" dirty="0"/>
          </a:p>
          <a:p>
            <a:pPr marL="0" indent="0" algn="l">
              <a:lnSpc>
                <a:spcPts val="1540"/>
              </a:lnSpc>
              <a:buNone/>
            </a:pPr>
            <a:r>
              <a:rPr lang="en-US" sz="1100" dirty="0">
                <a:solidFill>
                  <a:srgbClr val="EEF2FF"/>
                </a:solidFill>
                <a:latin typeface="JetBrains Mono" pitchFamily="49" charset="0"/>
                <a:ea typeface="JetBrains Mono" pitchFamily="49" charset="-122"/>
                <a:cs typeface="JetBrains Mono" pitchFamily="49" charset="-120"/>
              </a:rPr>
              <a:t>FROM videojuego;</a:t>
            </a:r>
            <a:endParaRPr lang="en-US" sz="1100" dirty="0"/>
          </a:p>
        </p:txBody>
      </p:sp>
      <p:sp>
        <p:nvSpPr>
          <p:cNvPr id="38" name="Text 35"/>
          <p:cNvSpPr/>
          <p:nvPr/>
        </p:nvSpPr>
        <p:spPr>
          <a:xfrm>
            <a:off x="7137400" y="4843363"/>
            <a:ext cx="436905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Y </a:t>
            </a:r>
            <a:r>
              <a:rPr lang="en-US" sz="1200" dirty="0">
                <a:solidFill>
                  <a:srgbClr val="3FE0EA"/>
                </a:solidFill>
                <a:latin typeface="DM Sans" pitchFamily="34" charset="0"/>
                <a:ea typeface="DM Sans" pitchFamily="34" charset="-122"/>
                <a:cs typeface="DM Sans" pitchFamily="34" charset="-120"/>
              </a:rPr>
              <a:t>pr_generar_resumen_ventas</a:t>
            </a:r>
            <a:r>
              <a:rPr lang="en-US" sz="1200" dirty="0">
                <a:solidFill>
                  <a:srgbClr val="EEF2FF"/>
                </a:solidFill>
                <a:latin typeface="DM Sans" pitchFamily="34" charset="0"/>
                <a:ea typeface="DM Sans" pitchFamily="34" charset="-122"/>
                <a:cs typeface="DM Sans" pitchFamily="34" charset="-120"/>
              </a:rPr>
              <a:t> la llama por cada juego en el cierre del día.</a:t>
            </a:r>
            <a:endParaRPr lang="en-US" sz="1200" dirty="0"/>
          </a:p>
        </p:txBody>
      </p:sp>
      <p:sp>
        <p:nvSpPr>
          <p:cNvPr id="39" name="Shape 36"/>
          <p:cNvSpPr/>
          <p:nvPr/>
        </p:nvSpPr>
        <p:spPr>
          <a:xfrm>
            <a:off x="7137400" y="5321995"/>
            <a:ext cx="4241800" cy="0"/>
          </a:xfrm>
          <a:prstGeom prst="line">
            <a:avLst/>
          </a:prstGeom>
          <a:noFill/>
          <a:ln w="12700">
            <a:solidFill>
              <a:srgbClr val="2B3672"/>
            </a:solidFill>
            <a:prstDash val="solid"/>
          </a:ln>
        </p:spPr>
      </p:sp>
      <p:sp>
        <p:nvSpPr>
          <p:cNvPr id="40" name="Text 37"/>
          <p:cNvSpPr/>
          <p:nvPr/>
        </p:nvSpPr>
        <p:spPr>
          <a:xfrm>
            <a:off x="7137400" y="5391845"/>
            <a:ext cx="43690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E0EA"/>
                </a:solidFill>
                <a:latin typeface="DM Sans" pitchFamily="34" charset="0"/>
                <a:ea typeface="DM Sans" pitchFamily="34" charset="-122"/>
                <a:cs typeface="DM Sans" pitchFamily="34" charset="-120"/>
              </a:rPr>
              <a:t>Resultado: unidades y estado de cada juego</a:t>
            </a:r>
            <a:endParaRPr lang="en-US" sz="1200" dirty="0"/>
          </a:p>
        </p:txBody>
      </p:sp>
      <p:sp>
        <p:nvSpPr>
          <p:cNvPr id="41" name="Text 3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23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E8A95"/>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E8A95"/>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3FE0EA"/>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8C2E8"/>
                </a:solidFill>
                <a:latin typeface="Chakra Petch" pitchFamily="34" charset="0"/>
                <a:ea typeface="Chakra Petch" pitchFamily="34" charset="-122"/>
                <a:cs typeface="Chakra Petch" pitchFamily="34" charset="-120"/>
              </a:rPr>
              <a:t>PACKAGE · </a:t>
            </a:r>
            <a:r>
              <a:rPr lang="en-US" sz="1400" b="1" kern="0" spc="150" dirty="0">
                <a:solidFill>
                  <a:srgbClr val="EEF2FF"/>
                </a:solidFill>
                <a:latin typeface="Chakra Petch" pitchFamily="34" charset="0"/>
                <a:ea typeface="Chakra Petch" pitchFamily="34" charset="-122"/>
                <a:cs typeface="Chakra Petch" pitchFamily="34" charset="-120"/>
              </a:rPr>
              <a:t>pkg_ventas.anular_venta</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Así se corrige una venta mal hecha</a:t>
            </a:r>
            <a:endParaRPr lang="en-US" sz="3200" dirty="0"/>
          </a:p>
        </p:txBody>
      </p:sp>
      <p:pic>
        <p:nvPicPr>
          <p:cNvPr id="22" name="Image 0" descr="Captura de SQL Developer: anular_venta anula la venta 25 y devuelve 60000"/>
          <p:cNvPicPr>
            <a:picLocks noChangeAspect="1"/>
          </p:cNvPicPr>
          <p:nvPr/>
        </p:nvPicPr>
        <p:blipFill>
          <a:blip r:embed="rId3"/>
          <a:srcRect t="172" b="172"/>
          <a:stretch/>
        </p:blipFill>
        <p:spPr>
          <a:xfrm>
            <a:off x="831850" y="1832471"/>
            <a:ext cx="6057900" cy="3898900"/>
          </a:xfrm>
          <a:prstGeom prst="roundRect">
            <a:avLst>
              <a:gd name="adj" fmla="val 2117"/>
            </a:avLst>
          </a:prstGeom>
        </p:spPr>
      </p:pic>
      <p:sp>
        <p:nvSpPr>
          <p:cNvPr id="23" name="Shape 20"/>
          <p:cNvSpPr/>
          <p:nvPr/>
        </p:nvSpPr>
        <p:spPr>
          <a:xfrm>
            <a:off x="822325" y="1822946"/>
            <a:ext cx="6076950" cy="3917950"/>
          </a:xfrm>
          <a:prstGeom prst="roundRect">
            <a:avLst>
              <a:gd name="adj" fmla="val 2350"/>
            </a:avLst>
          </a:prstGeom>
          <a:noFill/>
          <a:ln w="19050">
            <a:solidFill>
              <a:srgbClr val="B8C2E8"/>
            </a:solidFill>
            <a:prstDash val="solid"/>
          </a:ln>
        </p:spPr>
      </p:sp>
      <p:sp>
        <p:nvSpPr>
          <p:cNvPr id="24" name="Text 21"/>
          <p:cNvSpPr/>
          <p:nvPr/>
        </p:nvSpPr>
        <p:spPr>
          <a:xfrm>
            <a:off x="7137400" y="1813421"/>
            <a:ext cx="816868" cy="238720"/>
          </a:xfrm>
          <a:custGeom>
            <a:avLst/>
            <a:gdLst/>
            <a:ahLst/>
            <a:cxnLst/>
            <a:rect l="l" t="t" r="r" b="b"/>
            <a:pathLst>
              <a:path w="816868" h="238720">
                <a:moveTo>
                  <a:pt x="38100" y="0"/>
                </a:moveTo>
                <a:lnTo>
                  <a:pt x="778768" y="0"/>
                </a:lnTo>
                <a:arcTo wR="38100" hR="38100" stAng="16200000" swAng="5400000"/>
                <a:lnTo>
                  <a:pt x="816868" y="200620"/>
                </a:lnTo>
                <a:arcTo wR="38100" hR="38100" stAng="0" swAng="5400000"/>
                <a:lnTo>
                  <a:pt x="38100" y="238720"/>
                </a:lnTo>
                <a:arcTo wR="38100" hR="38100" stAng="5400000" swAng="5400000"/>
                <a:lnTo>
                  <a:pt x="0" y="38100"/>
                </a:lnTo>
                <a:arcTo wR="38100" hR="38100" stAng="10800000" swAng="5400000"/>
                <a:close/>
              </a:path>
            </a:pathLst>
          </a:custGeom>
          <a:solidFill>
            <a:srgbClr val="B8C2E8"/>
          </a:solidFill>
          <a:ln/>
        </p:spPr>
        <p:txBody>
          <a:bodyPr wrap="none" lIns="0" tIns="0" rIns="0" bIns="0" rtlCol="0" anchor="t">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PACKAGE</a:t>
            </a:r>
            <a:endParaRPr lang="en-US" sz="1200" dirty="0"/>
          </a:p>
        </p:txBody>
      </p:sp>
      <p:sp>
        <p:nvSpPr>
          <p:cNvPr id="25" name="Text 22"/>
          <p:cNvSpPr/>
          <p:nvPr/>
        </p:nvSpPr>
        <p:spPr>
          <a:xfrm>
            <a:off x="8024118" y="1819771"/>
            <a:ext cx="1592957" cy="226020"/>
          </a:xfrm>
          <a:prstGeom prst="roundRect">
            <a:avLst>
              <a:gd name="adj" fmla="val 14047"/>
            </a:avLst>
          </a:prstGeom>
          <a:noFill/>
          <a:ln w="12700">
            <a:solidFill>
              <a:srgbClr val="B8C2E8"/>
            </a:solidFill>
            <a:prstDash val="solid"/>
          </a:ln>
        </p:spPr>
        <p:txBody>
          <a:bodyPr wrap="none" lIns="0" tIns="0" rIns="0" bIns="0" rtlCol="0" anchor="ctr">
            <a:normAutofit/>
          </a:bodyPr>
          <a:lstStyle/>
          <a:p>
            <a:pPr marL="0" indent="0" algn="ctr">
              <a:lnSpc>
                <a:spcPts val="1680"/>
              </a:lnSpc>
              <a:buNone/>
            </a:pPr>
            <a:r>
              <a:rPr lang="en-US" sz="1200" b="1" dirty="0">
                <a:solidFill>
                  <a:srgbClr val="B8C2E8"/>
                </a:solidFill>
                <a:latin typeface="Chakra Petch" pitchFamily="34" charset="0"/>
                <a:ea typeface="Chakra Petch" pitchFamily="34" charset="-122"/>
                <a:cs typeface="Chakra Petch" pitchFamily="34" charset="-120"/>
              </a:rPr>
              <a:t>PÚBLICO + PRIVADO</a:t>
            </a:r>
            <a:endParaRPr lang="en-US" sz="1200" dirty="0"/>
          </a:p>
        </p:txBody>
      </p:sp>
      <p:sp>
        <p:nvSpPr>
          <p:cNvPr id="26" name="Text 23"/>
          <p:cNvSpPr/>
          <p:nvPr/>
        </p:nvSpPr>
        <p:spPr>
          <a:xfrm>
            <a:off x="7137400" y="2128341"/>
            <a:ext cx="436905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F"/>
                </a:solidFill>
                <a:latin typeface="JetBrains Mono" pitchFamily="49" charset="0"/>
                <a:ea typeface="JetBrains Mono" pitchFamily="49" charset="-122"/>
                <a:cs typeface="JetBrains Mono" pitchFamily="49" charset="-120"/>
              </a:rPr>
              <a:t>pkg_ventas.anular_venta</a:t>
            </a:r>
            <a:endParaRPr lang="en-US" sz="1300" dirty="0"/>
          </a:p>
        </p:txBody>
      </p:sp>
      <p:sp>
        <p:nvSpPr>
          <p:cNvPr id="27" name="Text 24"/>
          <p:cNvSpPr/>
          <p:nvPr/>
        </p:nvSpPr>
        <p:spPr>
          <a:xfrm>
            <a:off x="7137400" y="2448322"/>
            <a:ext cx="588963" cy="195560"/>
          </a:xfrm>
          <a:custGeom>
            <a:avLst/>
            <a:gdLst/>
            <a:ahLst/>
            <a:cxnLst/>
            <a:rect l="l" t="t" r="r" b="b"/>
            <a:pathLst>
              <a:path w="588963" h="195560">
                <a:moveTo>
                  <a:pt x="31750" y="0"/>
                </a:moveTo>
                <a:lnTo>
                  <a:pt x="557213" y="0"/>
                </a:lnTo>
                <a:arcTo wR="31750" hR="31750" stAng="16200000" swAng="5400000"/>
                <a:lnTo>
                  <a:pt x="588963" y="163810"/>
                </a:lnTo>
                <a:arcTo wR="31750" hR="31750" stAng="0" swAng="5400000"/>
                <a:lnTo>
                  <a:pt x="31750" y="195560"/>
                </a:lnTo>
                <a:arcTo wR="31750" hR="31750" stAng="5400000" swAng="5400000"/>
                <a:lnTo>
                  <a:pt x="0" y="31750"/>
                </a:lnTo>
                <a:arcTo wR="31750" hR="31750" stAng="10800000" swAng="5400000"/>
                <a:close/>
              </a:path>
            </a:pathLst>
          </a:custGeom>
          <a:solidFill>
            <a:srgbClr val="3FE0EA"/>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RECIBE</a:t>
            </a:r>
            <a:endParaRPr lang="en-US" sz="1100" dirty="0"/>
          </a:p>
        </p:txBody>
      </p:sp>
      <p:sp>
        <p:nvSpPr>
          <p:cNvPr id="28" name="Text 25"/>
          <p:cNvSpPr/>
          <p:nvPr/>
        </p:nvSpPr>
        <p:spPr>
          <a:xfrm>
            <a:off x="7789862" y="2435622"/>
            <a:ext cx="163663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la venta y el motivo</a:t>
            </a:r>
            <a:endParaRPr lang="en-US" sz="1200" dirty="0"/>
          </a:p>
        </p:txBody>
      </p:sp>
      <p:sp>
        <p:nvSpPr>
          <p:cNvPr id="29" name="Text 26"/>
          <p:cNvSpPr/>
          <p:nvPr/>
        </p:nvSpPr>
        <p:spPr>
          <a:xfrm>
            <a:off x="7137400" y="2720082"/>
            <a:ext cx="436905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8C2E8"/>
                </a:solidFill>
                <a:latin typeface="Chakra Petch" pitchFamily="34" charset="0"/>
                <a:ea typeface="Chakra Petch" pitchFamily="34" charset="-122"/>
                <a:cs typeface="Chakra Petch" pitchFamily="34" charset="-120"/>
              </a:rPr>
              <a:t>QUÉ HACE EN LA TIENDA</a:t>
            </a:r>
            <a:endParaRPr lang="en-US" sz="1100" dirty="0"/>
          </a:p>
        </p:txBody>
      </p:sp>
      <p:sp>
        <p:nvSpPr>
          <p:cNvPr id="30" name="Text 27"/>
          <p:cNvSpPr/>
          <p:nvPr/>
        </p:nvSpPr>
        <p:spPr>
          <a:xfrm>
            <a:off x="7137400" y="3004542"/>
            <a:ext cx="137418"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B8C2E8"/>
                </a:solidFill>
                <a:latin typeface="Chakra Petch" pitchFamily="34" charset="0"/>
                <a:ea typeface="Chakra Petch" pitchFamily="34" charset="-122"/>
                <a:cs typeface="Chakra Petch" pitchFamily="34" charset="-120"/>
              </a:rPr>
              <a:t>1.</a:t>
            </a:r>
            <a:endParaRPr lang="en-US" sz="1100" dirty="0"/>
          </a:p>
        </p:txBody>
      </p:sp>
      <p:sp>
        <p:nvSpPr>
          <p:cNvPr id="31" name="Text 28"/>
          <p:cNvSpPr/>
          <p:nvPr/>
        </p:nvSpPr>
        <p:spPr>
          <a:xfrm>
            <a:off x="7287518" y="2991842"/>
            <a:ext cx="296203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Exige un motivo y bloquea la venta.</a:t>
            </a:r>
            <a:endParaRPr lang="en-US" sz="1200" dirty="0"/>
          </a:p>
        </p:txBody>
      </p:sp>
      <p:sp>
        <p:nvSpPr>
          <p:cNvPr id="32" name="Text 29"/>
          <p:cNvSpPr/>
          <p:nvPr/>
        </p:nvSpPr>
        <p:spPr>
          <a:xfrm>
            <a:off x="7137400" y="3250902"/>
            <a:ext cx="164306"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B8C2E8"/>
                </a:solidFill>
                <a:latin typeface="Chakra Petch" pitchFamily="34" charset="0"/>
                <a:ea typeface="Chakra Petch" pitchFamily="34" charset="-122"/>
                <a:cs typeface="Chakra Petch" pitchFamily="34" charset="-120"/>
              </a:rPr>
              <a:t>2.</a:t>
            </a:r>
            <a:endParaRPr lang="en-US" sz="1100" dirty="0"/>
          </a:p>
        </p:txBody>
      </p:sp>
      <p:sp>
        <p:nvSpPr>
          <p:cNvPr id="33" name="Text 30"/>
          <p:cNvSpPr/>
          <p:nvPr/>
        </p:nvSpPr>
        <p:spPr>
          <a:xfrm>
            <a:off x="7314406" y="3238202"/>
            <a:ext cx="247840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Devuelve cada juego al stock.</a:t>
            </a:r>
            <a:endParaRPr lang="en-US" sz="1200" dirty="0"/>
          </a:p>
        </p:txBody>
      </p:sp>
      <p:sp>
        <p:nvSpPr>
          <p:cNvPr id="34" name="Text 31"/>
          <p:cNvSpPr/>
          <p:nvPr/>
        </p:nvSpPr>
        <p:spPr>
          <a:xfrm>
            <a:off x="7137400" y="3497263"/>
            <a:ext cx="166291"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B8C2E8"/>
                </a:solidFill>
                <a:latin typeface="Chakra Petch" pitchFamily="34" charset="0"/>
                <a:ea typeface="Chakra Petch" pitchFamily="34" charset="-122"/>
                <a:cs typeface="Chakra Petch" pitchFamily="34" charset="-120"/>
              </a:rPr>
              <a:t>3.</a:t>
            </a:r>
            <a:endParaRPr lang="en-US" sz="1100" dirty="0"/>
          </a:p>
        </p:txBody>
      </p:sp>
      <p:sp>
        <p:nvSpPr>
          <p:cNvPr id="35" name="Text 32"/>
          <p:cNvSpPr/>
          <p:nvPr/>
        </p:nvSpPr>
        <p:spPr>
          <a:xfrm>
            <a:off x="7316391" y="3484563"/>
            <a:ext cx="326481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Guarda un respaldo en </a:t>
            </a:r>
            <a:r>
              <a:rPr lang="en-US" sz="1200" dirty="0">
                <a:solidFill>
                  <a:srgbClr val="3FE0EA"/>
                </a:solidFill>
                <a:latin typeface="DM Sans" pitchFamily="34" charset="0"/>
                <a:ea typeface="DM Sans" pitchFamily="34" charset="-122"/>
                <a:cs typeface="DM Sans" pitchFamily="34" charset="-120"/>
              </a:rPr>
              <a:t>venta_anulada</a:t>
            </a:r>
            <a:r>
              <a:rPr lang="en-US" sz="1200" dirty="0">
                <a:solidFill>
                  <a:srgbClr val="EEF2FF"/>
                </a:solidFill>
                <a:latin typeface="DM Sans" pitchFamily="34" charset="0"/>
                <a:ea typeface="DM Sans" pitchFamily="34" charset="-122"/>
                <a:cs typeface="DM Sans" pitchFamily="34" charset="-120"/>
              </a:rPr>
              <a:t>.</a:t>
            </a:r>
            <a:endParaRPr lang="en-US" sz="1200" dirty="0"/>
          </a:p>
        </p:txBody>
      </p:sp>
      <p:sp>
        <p:nvSpPr>
          <p:cNvPr id="36" name="Text 33"/>
          <p:cNvSpPr/>
          <p:nvPr/>
        </p:nvSpPr>
        <p:spPr>
          <a:xfrm>
            <a:off x="7137400" y="3743623"/>
            <a:ext cx="163612"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B8C2E8"/>
                </a:solidFill>
                <a:latin typeface="Chakra Petch" pitchFamily="34" charset="0"/>
                <a:ea typeface="Chakra Petch" pitchFamily="34" charset="-122"/>
                <a:cs typeface="Chakra Petch" pitchFamily="34" charset="-120"/>
              </a:rPr>
              <a:t>4.</a:t>
            </a:r>
            <a:endParaRPr lang="en-US" sz="1100" dirty="0"/>
          </a:p>
        </p:txBody>
      </p:sp>
      <p:sp>
        <p:nvSpPr>
          <p:cNvPr id="37" name="Text 34"/>
          <p:cNvSpPr/>
          <p:nvPr/>
        </p:nvSpPr>
        <p:spPr>
          <a:xfrm>
            <a:off x="7313712" y="3730923"/>
            <a:ext cx="3794879"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Activa </a:t>
            </a:r>
            <a:r>
              <a:rPr lang="en-US" sz="1200" dirty="0">
                <a:solidFill>
                  <a:srgbClr val="3FE0EA"/>
                </a:solidFill>
                <a:latin typeface="DM Sans" pitchFamily="34" charset="0"/>
                <a:ea typeface="DM Sans" pitchFamily="34" charset="-122"/>
                <a:cs typeface="DM Sans" pitchFamily="34" charset="-120"/>
              </a:rPr>
              <a:t>g_anulando</a:t>
            </a:r>
            <a:r>
              <a:rPr lang="en-US" sz="1200" dirty="0">
                <a:solidFill>
                  <a:srgbClr val="EEF2FF"/>
                </a:solidFill>
                <a:latin typeface="DM Sans" pitchFamily="34" charset="0"/>
                <a:ea typeface="DM Sans" pitchFamily="34" charset="-122"/>
                <a:cs typeface="DM Sans" pitchFamily="34" charset="-120"/>
              </a:rPr>
              <a:t> (privado) y borra la venta.</a:t>
            </a:r>
            <a:endParaRPr lang="en-US" sz="1200" dirty="0"/>
          </a:p>
        </p:txBody>
      </p:sp>
      <p:sp>
        <p:nvSpPr>
          <p:cNvPr id="38" name="Text 35"/>
          <p:cNvSpPr/>
          <p:nvPr/>
        </p:nvSpPr>
        <p:spPr>
          <a:xfrm>
            <a:off x="7137400" y="4028083"/>
            <a:ext cx="727472" cy="195560"/>
          </a:xfrm>
          <a:custGeom>
            <a:avLst/>
            <a:gdLst/>
            <a:ahLst/>
            <a:cxnLst/>
            <a:rect l="l" t="t" r="r" b="b"/>
            <a:pathLst>
              <a:path w="727472" h="195560">
                <a:moveTo>
                  <a:pt x="31750" y="0"/>
                </a:moveTo>
                <a:lnTo>
                  <a:pt x="695722" y="0"/>
                </a:lnTo>
                <a:arcTo wR="31750" hR="31750" stAng="16200000" swAng="5400000"/>
                <a:lnTo>
                  <a:pt x="727472"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ENTREGA</a:t>
            </a:r>
            <a:endParaRPr lang="en-US" sz="1100" dirty="0"/>
          </a:p>
        </p:txBody>
      </p:sp>
      <p:sp>
        <p:nvSpPr>
          <p:cNvPr id="39" name="Text 36"/>
          <p:cNvSpPr/>
          <p:nvPr/>
        </p:nvSpPr>
        <p:spPr>
          <a:xfrm>
            <a:off x="7928372" y="4015383"/>
            <a:ext cx="2664262"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el monto devuelto y el respaldo</a:t>
            </a:r>
            <a:endParaRPr lang="en-US" sz="1200" dirty="0"/>
          </a:p>
        </p:txBody>
      </p:sp>
      <p:sp>
        <p:nvSpPr>
          <p:cNvPr id="40" name="Text 37"/>
          <p:cNvSpPr/>
          <p:nvPr/>
        </p:nvSpPr>
        <p:spPr>
          <a:xfrm>
            <a:off x="7137400" y="4299843"/>
            <a:ext cx="4369054"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2E8"/>
                </a:solidFill>
                <a:latin typeface="DM Sans" pitchFamily="34" charset="0"/>
                <a:ea typeface="DM Sans" pitchFamily="34" charset="-122"/>
                <a:cs typeface="DM Sans" pitchFamily="34" charset="-120"/>
              </a:rPr>
              <a:t>Un DELETE por fuera se bloquea: solo el package puede borrar.</a:t>
            </a:r>
            <a:endParaRPr lang="en-US" sz="1200" dirty="0"/>
          </a:p>
        </p:txBody>
      </p:sp>
      <p:sp>
        <p:nvSpPr>
          <p:cNvPr id="41" name="Shape 38"/>
          <p:cNvSpPr/>
          <p:nvPr/>
        </p:nvSpPr>
        <p:spPr>
          <a:xfrm>
            <a:off x="7137400" y="4778474"/>
            <a:ext cx="4241800" cy="0"/>
          </a:xfrm>
          <a:prstGeom prst="line">
            <a:avLst/>
          </a:prstGeom>
          <a:noFill/>
          <a:ln w="12700">
            <a:solidFill>
              <a:srgbClr val="2B3672"/>
            </a:solidFill>
            <a:prstDash val="solid"/>
          </a:ln>
        </p:spPr>
      </p:sp>
      <p:sp>
        <p:nvSpPr>
          <p:cNvPr id="42" name="Text 39"/>
          <p:cNvSpPr/>
          <p:nvPr/>
        </p:nvSpPr>
        <p:spPr>
          <a:xfrm>
            <a:off x="7137400" y="4848324"/>
            <a:ext cx="43690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E0EA"/>
                </a:solidFill>
                <a:latin typeface="DM Sans" pitchFamily="34" charset="0"/>
                <a:ea typeface="DM Sans" pitchFamily="34" charset="-122"/>
                <a:cs typeface="DM Sans" pitchFamily="34" charset="-120"/>
              </a:rPr>
              <a:t>Resultado: $60.000 devueltos</a:t>
            </a:r>
            <a:endParaRPr lang="en-US" sz="1200" dirty="0"/>
          </a:p>
        </p:txBody>
      </p:sp>
      <p:sp>
        <p:nvSpPr>
          <p:cNvPr id="43" name="Text 4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A40"/>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2E8A95"/>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2E8A95"/>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2E8A95"/>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2E8A95"/>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2E8A95"/>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2E8A95"/>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2E8A95"/>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3FE0EA"/>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EF2FF"/>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2B3672"/>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7AAE"/>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F6FAE"/>
                </a:solidFill>
                <a:latin typeface="Chakra Petch" pitchFamily="34" charset="0"/>
                <a:ea typeface="Chakra Petch" pitchFamily="34" charset="-122"/>
                <a:cs typeface="Chakra Petch" pitchFamily="34" charset="-120"/>
              </a:rPr>
              <a:t>TRIGGER · </a:t>
            </a:r>
            <a:r>
              <a:rPr lang="en-US" sz="1400" b="1" kern="0" spc="150" dirty="0">
                <a:solidFill>
                  <a:srgbClr val="EEF2FF"/>
                </a:solidFill>
                <a:latin typeface="Chakra Petch" pitchFamily="34" charset="0"/>
                <a:ea typeface="Chakra Petch" pitchFamily="34" charset="-122"/>
                <a:cs typeface="Chakra Petch" pitchFamily="34" charset="-120"/>
              </a:rPr>
              <a:t>trg_alerta_reposicion</a:t>
            </a:r>
            <a:endParaRPr lang="en-US" sz="1400" dirty="0"/>
          </a:p>
        </p:txBody>
      </p:sp>
      <p:sp>
        <p:nvSpPr>
          <p:cNvPr id="21" name="Text 19"/>
          <p:cNvSpPr>
            <a:spLocks noGrp="1"/>
          </p:cNvSpPr>
          <p:nvPr>
            <p:ph type="title"/>
          </p:nvPr>
        </p:nvSpPr>
        <p:spPr>
          <a:xfrm>
            <a:off x="812800" y="12140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EF2FF"/>
                </a:solidFill>
                <a:latin typeface="Chakra Petch" pitchFamily="34" charset="0"/>
                <a:ea typeface="Chakra Petch" pitchFamily="34" charset="-122"/>
                <a:cs typeface="Chakra Petch" pitchFamily="34" charset="-120"/>
              </a:rPr>
              <a:t>Así el stock avisa cuándo reponer</a:t>
            </a:r>
            <a:endParaRPr lang="en-US" sz="3200" dirty="0"/>
          </a:p>
        </p:txBody>
      </p:sp>
      <p:pic>
        <p:nvPicPr>
          <p:cNvPr id="22" name="Image 0" descr="Captura de SQL Developer: al reponer, las alertas pendientes bajan de 4 a 2"/>
          <p:cNvPicPr>
            <a:picLocks noChangeAspect="1"/>
          </p:cNvPicPr>
          <p:nvPr/>
        </p:nvPicPr>
        <p:blipFill>
          <a:blip r:embed="rId3"/>
          <a:srcRect t="172" b="172"/>
          <a:stretch/>
        </p:blipFill>
        <p:spPr>
          <a:xfrm>
            <a:off x="831850" y="1832471"/>
            <a:ext cx="6057900" cy="3898900"/>
          </a:xfrm>
          <a:prstGeom prst="roundRect">
            <a:avLst>
              <a:gd name="adj" fmla="val 2117"/>
            </a:avLst>
          </a:prstGeom>
        </p:spPr>
      </p:pic>
      <p:sp>
        <p:nvSpPr>
          <p:cNvPr id="23" name="Shape 20"/>
          <p:cNvSpPr/>
          <p:nvPr/>
        </p:nvSpPr>
        <p:spPr>
          <a:xfrm>
            <a:off x="822325" y="1822946"/>
            <a:ext cx="6076950" cy="3917950"/>
          </a:xfrm>
          <a:prstGeom prst="roundRect">
            <a:avLst>
              <a:gd name="adj" fmla="val 2350"/>
            </a:avLst>
          </a:prstGeom>
          <a:noFill/>
          <a:ln w="19050">
            <a:solidFill>
              <a:srgbClr val="FF6FAE"/>
            </a:solidFill>
            <a:prstDash val="solid"/>
          </a:ln>
        </p:spPr>
      </p:sp>
      <p:sp>
        <p:nvSpPr>
          <p:cNvPr id="24" name="Text 21"/>
          <p:cNvSpPr/>
          <p:nvPr/>
        </p:nvSpPr>
        <p:spPr>
          <a:xfrm>
            <a:off x="7137400" y="1813421"/>
            <a:ext cx="778768" cy="238720"/>
          </a:xfrm>
          <a:custGeom>
            <a:avLst/>
            <a:gdLst/>
            <a:ahLst/>
            <a:cxnLst/>
            <a:rect l="l" t="t" r="r" b="b"/>
            <a:pathLst>
              <a:path w="778768" h="238720">
                <a:moveTo>
                  <a:pt x="38100" y="0"/>
                </a:moveTo>
                <a:lnTo>
                  <a:pt x="740668" y="0"/>
                </a:lnTo>
                <a:arcTo wR="38100" hR="38100" stAng="16200000" swAng="5400000"/>
                <a:lnTo>
                  <a:pt x="778768" y="200620"/>
                </a:lnTo>
                <a:arcTo wR="38100" hR="38100" stAng="0" swAng="5400000"/>
                <a:lnTo>
                  <a:pt x="38100" y="238720"/>
                </a:lnTo>
                <a:arcTo wR="38100" hR="38100" stAng="5400000" swAng="5400000"/>
                <a:lnTo>
                  <a:pt x="0" y="38100"/>
                </a:lnTo>
                <a:arcTo wR="38100" hR="38100" stAng="10800000" swAng="5400000"/>
                <a:close/>
              </a:path>
            </a:pathLst>
          </a:custGeom>
          <a:solidFill>
            <a:srgbClr val="FF6FAE"/>
          </a:solidFill>
          <a:ln/>
        </p:spPr>
        <p:txBody>
          <a:bodyPr wrap="none" lIns="0" tIns="0" rIns="0" bIns="0" rtlCol="0" anchor="t">
            <a:normAutofit/>
          </a:bodyPr>
          <a:lstStyle/>
          <a:p>
            <a:pPr marL="0" indent="0" algn="ctr">
              <a:lnSpc>
                <a:spcPts val="1680"/>
              </a:lnSpc>
              <a:buNone/>
            </a:pPr>
            <a:r>
              <a:rPr lang="en-US" sz="1200" b="1" dirty="0">
                <a:solidFill>
                  <a:srgbClr val="0D1230"/>
                </a:solidFill>
                <a:latin typeface="Chakra Petch" pitchFamily="34" charset="0"/>
                <a:ea typeface="Chakra Petch" pitchFamily="34" charset="-122"/>
                <a:cs typeface="Chakra Petch" pitchFamily="34" charset="-120"/>
              </a:rPr>
              <a:t>TRIGGER</a:t>
            </a:r>
            <a:endParaRPr lang="en-US" sz="1200" dirty="0"/>
          </a:p>
        </p:txBody>
      </p:sp>
      <p:sp>
        <p:nvSpPr>
          <p:cNvPr id="25" name="Text 22"/>
          <p:cNvSpPr/>
          <p:nvPr/>
        </p:nvSpPr>
        <p:spPr>
          <a:xfrm>
            <a:off x="7986018" y="1819771"/>
            <a:ext cx="1287463" cy="226020"/>
          </a:xfrm>
          <a:prstGeom prst="roundRect">
            <a:avLst>
              <a:gd name="adj" fmla="val 14047"/>
            </a:avLst>
          </a:prstGeom>
          <a:noFill/>
          <a:ln w="12700">
            <a:solidFill>
              <a:srgbClr val="FF6FAE"/>
            </a:solidFill>
            <a:prstDash val="solid"/>
          </a:ln>
        </p:spPr>
        <p:txBody>
          <a:bodyPr wrap="none" lIns="0" tIns="0" rIns="0" bIns="0" rtlCol="0" anchor="ctr">
            <a:normAutofit/>
          </a:bodyPr>
          <a:lstStyle/>
          <a:p>
            <a:pPr marL="0" indent="0" algn="ctr">
              <a:lnSpc>
                <a:spcPts val="1680"/>
              </a:lnSpc>
              <a:buNone/>
            </a:pPr>
            <a:r>
              <a:rPr lang="en-US" sz="1200" b="1" dirty="0">
                <a:solidFill>
                  <a:srgbClr val="FF6FAE"/>
                </a:solidFill>
                <a:latin typeface="Chakra Petch" pitchFamily="34" charset="0"/>
                <a:ea typeface="Chakra Petch" pitchFamily="34" charset="-122"/>
                <a:cs typeface="Chakra Petch" pitchFamily="34" charset="-120"/>
              </a:rPr>
              <a:t>DE FILA · AFTER</a:t>
            </a:r>
            <a:endParaRPr lang="en-US" sz="1200" dirty="0"/>
          </a:p>
        </p:txBody>
      </p:sp>
      <p:sp>
        <p:nvSpPr>
          <p:cNvPr id="26" name="Text 23"/>
          <p:cNvSpPr/>
          <p:nvPr/>
        </p:nvSpPr>
        <p:spPr>
          <a:xfrm>
            <a:off x="7137400" y="2128341"/>
            <a:ext cx="436905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F"/>
                </a:solidFill>
                <a:latin typeface="JetBrains Mono" pitchFamily="49" charset="0"/>
                <a:ea typeface="JetBrains Mono" pitchFamily="49" charset="-122"/>
                <a:cs typeface="JetBrains Mono" pitchFamily="49" charset="-120"/>
              </a:rPr>
              <a:t>trg_alerta_reposicion</a:t>
            </a:r>
            <a:endParaRPr lang="en-US" sz="1300" dirty="0"/>
          </a:p>
        </p:txBody>
      </p:sp>
      <p:sp>
        <p:nvSpPr>
          <p:cNvPr id="27" name="Text 24"/>
          <p:cNvSpPr/>
          <p:nvPr/>
        </p:nvSpPr>
        <p:spPr>
          <a:xfrm>
            <a:off x="7137400" y="2448322"/>
            <a:ext cx="781546" cy="195560"/>
          </a:xfrm>
          <a:custGeom>
            <a:avLst/>
            <a:gdLst/>
            <a:ahLst/>
            <a:cxnLst/>
            <a:rect l="l" t="t" r="r" b="b"/>
            <a:pathLst>
              <a:path w="781546" h="195560">
                <a:moveTo>
                  <a:pt x="31750" y="0"/>
                </a:moveTo>
                <a:lnTo>
                  <a:pt x="749796" y="0"/>
                </a:lnTo>
                <a:arcTo wR="31750" hR="31750" stAng="16200000" swAng="5400000"/>
                <a:lnTo>
                  <a:pt x="781546" y="163810"/>
                </a:lnTo>
                <a:arcTo wR="31750" hR="31750" stAng="0" swAng="5400000"/>
                <a:lnTo>
                  <a:pt x="31750" y="195560"/>
                </a:lnTo>
                <a:arcTo wR="31750" hR="31750" stAng="5400000" swAng="5400000"/>
                <a:lnTo>
                  <a:pt x="0" y="31750"/>
                </a:lnTo>
                <a:arcTo wR="31750" hR="31750" stAng="10800000" swAng="5400000"/>
                <a:close/>
              </a:path>
            </a:pathLst>
          </a:custGeom>
          <a:solidFill>
            <a:srgbClr val="3FE0EA"/>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SE ACTIVA</a:t>
            </a:r>
            <a:endParaRPr lang="en-US" sz="1100" dirty="0"/>
          </a:p>
        </p:txBody>
      </p:sp>
      <p:sp>
        <p:nvSpPr>
          <p:cNvPr id="28" name="Text 25"/>
          <p:cNvSpPr/>
          <p:nvPr/>
        </p:nvSpPr>
        <p:spPr>
          <a:xfrm>
            <a:off x="7982446" y="2435622"/>
            <a:ext cx="338566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cambia el stock o el mínimo de un juego</a:t>
            </a:r>
            <a:endParaRPr lang="en-US" sz="1200" dirty="0"/>
          </a:p>
        </p:txBody>
      </p:sp>
      <p:sp>
        <p:nvSpPr>
          <p:cNvPr id="29" name="Text 26"/>
          <p:cNvSpPr/>
          <p:nvPr/>
        </p:nvSpPr>
        <p:spPr>
          <a:xfrm>
            <a:off x="7137400" y="2720082"/>
            <a:ext cx="4369054" cy="220960"/>
          </a:xfrm>
          <a:prstGeom prst="rect">
            <a:avLst/>
          </a:prstGeom>
          <a:noFill/>
          <a:ln/>
        </p:spPr>
        <p:txBody>
          <a:bodyPr wrap="square" lIns="0" tIns="0" rIns="0" bIns="0" rtlCol="0" anchor="t">
            <a:normAutofit/>
          </a:bodyPr>
          <a:lstStyle/>
          <a:p>
            <a:pPr marL="0" indent="0" algn="l">
              <a:lnSpc>
                <a:spcPts val="1540"/>
              </a:lnSpc>
              <a:buNone/>
            </a:pPr>
            <a:r>
              <a:rPr lang="en-US" sz="1100" b="1" kern="0" spc="100" dirty="0">
                <a:solidFill>
                  <a:srgbClr val="B8C2E8"/>
                </a:solidFill>
                <a:latin typeface="Chakra Petch" pitchFamily="34" charset="0"/>
                <a:ea typeface="Chakra Petch" pitchFamily="34" charset="-122"/>
                <a:cs typeface="Chakra Petch" pitchFamily="34" charset="-120"/>
              </a:rPr>
              <a:t>QUÉ HACE EN LA TIENDA</a:t>
            </a:r>
            <a:endParaRPr lang="en-US" sz="1100" dirty="0"/>
          </a:p>
        </p:txBody>
      </p:sp>
      <p:sp>
        <p:nvSpPr>
          <p:cNvPr id="30" name="Text 27"/>
          <p:cNvSpPr/>
          <p:nvPr/>
        </p:nvSpPr>
        <p:spPr>
          <a:xfrm>
            <a:off x="7137400" y="3004542"/>
            <a:ext cx="137418"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FF6FAE"/>
                </a:solidFill>
                <a:latin typeface="Chakra Petch" pitchFamily="34" charset="0"/>
                <a:ea typeface="Chakra Petch" pitchFamily="34" charset="-122"/>
                <a:cs typeface="Chakra Petch" pitchFamily="34" charset="-120"/>
              </a:rPr>
              <a:t>1.</a:t>
            </a:r>
            <a:endParaRPr lang="en-US" sz="1100" dirty="0"/>
          </a:p>
        </p:txBody>
      </p:sp>
      <p:sp>
        <p:nvSpPr>
          <p:cNvPr id="31" name="Text 28"/>
          <p:cNvSpPr/>
          <p:nvPr/>
        </p:nvSpPr>
        <p:spPr>
          <a:xfrm>
            <a:off x="7287518" y="2991842"/>
            <a:ext cx="4728924"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Compara el stock de antes y de después (:OLD y :NEW).</a:t>
            </a:r>
            <a:endParaRPr lang="en-US" sz="1200" dirty="0"/>
          </a:p>
        </p:txBody>
      </p:sp>
      <p:sp>
        <p:nvSpPr>
          <p:cNvPr id="32" name="Text 29"/>
          <p:cNvSpPr/>
          <p:nvPr/>
        </p:nvSpPr>
        <p:spPr>
          <a:xfrm>
            <a:off x="7137400" y="3250902"/>
            <a:ext cx="164306"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FF6FAE"/>
                </a:solidFill>
                <a:latin typeface="Chakra Petch" pitchFamily="34" charset="0"/>
                <a:ea typeface="Chakra Petch" pitchFamily="34" charset="-122"/>
                <a:cs typeface="Chakra Petch" pitchFamily="34" charset="-120"/>
              </a:rPr>
              <a:t>2.</a:t>
            </a:r>
            <a:endParaRPr lang="en-US" sz="1100" dirty="0"/>
          </a:p>
        </p:txBody>
      </p:sp>
      <p:sp>
        <p:nvSpPr>
          <p:cNvPr id="33" name="Text 30"/>
          <p:cNvSpPr/>
          <p:nvPr/>
        </p:nvSpPr>
        <p:spPr>
          <a:xfrm>
            <a:off x="7314406" y="3238202"/>
            <a:ext cx="2926913"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Si baja del mínimo, abre una alerta.</a:t>
            </a:r>
            <a:endParaRPr lang="en-US" sz="1200" dirty="0"/>
          </a:p>
        </p:txBody>
      </p:sp>
      <p:sp>
        <p:nvSpPr>
          <p:cNvPr id="34" name="Text 31"/>
          <p:cNvSpPr/>
          <p:nvPr/>
        </p:nvSpPr>
        <p:spPr>
          <a:xfrm>
            <a:off x="7137400" y="3497263"/>
            <a:ext cx="166291" cy="220960"/>
          </a:xfrm>
          <a:prstGeom prst="rect">
            <a:avLst/>
          </a:prstGeom>
          <a:noFill/>
          <a:ln/>
        </p:spPr>
        <p:txBody>
          <a:bodyPr wrap="square" lIns="0" tIns="0" rIns="0" bIns="0" rtlCol="0" anchor="t">
            <a:normAutofit/>
          </a:bodyPr>
          <a:lstStyle/>
          <a:p>
            <a:pPr marL="0" indent="0" algn="l">
              <a:lnSpc>
                <a:spcPts val="1540"/>
              </a:lnSpc>
              <a:buNone/>
            </a:pPr>
            <a:r>
              <a:rPr lang="en-US" sz="1100" b="1" dirty="0">
                <a:solidFill>
                  <a:srgbClr val="FF6FAE"/>
                </a:solidFill>
                <a:latin typeface="Chakra Petch" pitchFamily="34" charset="0"/>
                <a:ea typeface="Chakra Petch" pitchFamily="34" charset="-122"/>
                <a:cs typeface="Chakra Petch" pitchFamily="34" charset="-120"/>
              </a:rPr>
              <a:t>3.</a:t>
            </a:r>
            <a:endParaRPr lang="en-US" sz="1100" dirty="0"/>
          </a:p>
        </p:txBody>
      </p:sp>
      <p:sp>
        <p:nvSpPr>
          <p:cNvPr id="35" name="Text 32"/>
          <p:cNvSpPr/>
          <p:nvPr/>
        </p:nvSpPr>
        <p:spPr>
          <a:xfrm>
            <a:off x="7316391" y="3484563"/>
            <a:ext cx="3234452"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Si se repone sobre el mínimo, la cierra.</a:t>
            </a:r>
            <a:endParaRPr lang="en-US" sz="1200" dirty="0"/>
          </a:p>
        </p:txBody>
      </p:sp>
      <p:sp>
        <p:nvSpPr>
          <p:cNvPr id="36" name="Text 33"/>
          <p:cNvSpPr/>
          <p:nvPr/>
        </p:nvSpPr>
        <p:spPr>
          <a:xfrm>
            <a:off x="7137400" y="3781723"/>
            <a:ext cx="727472" cy="195560"/>
          </a:xfrm>
          <a:custGeom>
            <a:avLst/>
            <a:gdLst/>
            <a:ahLst/>
            <a:cxnLst/>
            <a:rect l="l" t="t" r="r" b="b"/>
            <a:pathLst>
              <a:path w="727472" h="195560">
                <a:moveTo>
                  <a:pt x="31750" y="0"/>
                </a:moveTo>
                <a:lnTo>
                  <a:pt x="695722" y="0"/>
                </a:lnTo>
                <a:arcTo wR="31750" hR="31750" stAng="16200000" swAng="5400000"/>
                <a:lnTo>
                  <a:pt x="727472" y="163810"/>
                </a:lnTo>
                <a:arcTo wR="31750" hR="31750" stAng="0" swAng="5400000"/>
                <a:lnTo>
                  <a:pt x="31750" y="195560"/>
                </a:lnTo>
                <a:arcTo wR="31750" hR="31750" stAng="5400000" swAng="5400000"/>
                <a:lnTo>
                  <a:pt x="0" y="31750"/>
                </a:lnTo>
                <a:arcTo wR="31750" hR="31750" stAng="10800000" swAng="5400000"/>
                <a:close/>
              </a:path>
            </a:pathLst>
          </a:custGeom>
          <a:solidFill>
            <a:srgbClr val="E7C1FF"/>
          </a:solidFill>
          <a:ln/>
        </p:spPr>
        <p:txBody>
          <a:bodyPr wrap="none" lIns="0" tIns="0" rIns="0" bIns="0" rtlCol="0" anchor="ctr">
            <a:normAutofit/>
          </a:bodyPr>
          <a:lstStyle/>
          <a:p>
            <a:pPr marL="0" indent="0" algn="ctr">
              <a:lnSpc>
                <a:spcPts val="1540"/>
              </a:lnSpc>
              <a:buNone/>
            </a:pPr>
            <a:r>
              <a:rPr lang="en-US" sz="1100" b="1" dirty="0">
                <a:solidFill>
                  <a:srgbClr val="0D1230"/>
                </a:solidFill>
                <a:latin typeface="Chakra Petch" pitchFamily="34" charset="0"/>
                <a:ea typeface="Chakra Petch" pitchFamily="34" charset="-122"/>
                <a:cs typeface="Chakra Petch" pitchFamily="34" charset="-120"/>
              </a:rPr>
              <a:t>ENTREGA</a:t>
            </a:r>
            <a:endParaRPr lang="en-US" sz="1100" dirty="0"/>
          </a:p>
        </p:txBody>
      </p:sp>
      <p:sp>
        <p:nvSpPr>
          <p:cNvPr id="37" name="Text 34"/>
          <p:cNvSpPr/>
          <p:nvPr/>
        </p:nvSpPr>
        <p:spPr>
          <a:xfrm>
            <a:off x="7928372" y="3769023"/>
            <a:ext cx="382464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EF2FF"/>
                </a:solidFill>
                <a:latin typeface="DM Sans" pitchFamily="34" charset="0"/>
                <a:ea typeface="DM Sans" pitchFamily="34" charset="-122"/>
                <a:cs typeface="DM Sans" pitchFamily="34" charset="-120"/>
              </a:rPr>
              <a:t>alerta abierta o cerrada, sin que nadie lo pida</a:t>
            </a:r>
            <a:endParaRPr lang="en-US" sz="1200" dirty="0"/>
          </a:p>
        </p:txBody>
      </p:sp>
      <p:sp>
        <p:nvSpPr>
          <p:cNvPr id="38" name="Shape 35"/>
          <p:cNvSpPr/>
          <p:nvPr/>
        </p:nvSpPr>
        <p:spPr>
          <a:xfrm>
            <a:off x="7137400" y="4059833"/>
            <a:ext cx="4241800" cy="0"/>
          </a:xfrm>
          <a:prstGeom prst="line">
            <a:avLst/>
          </a:prstGeom>
          <a:noFill/>
          <a:ln w="12700">
            <a:solidFill>
              <a:srgbClr val="2B3672"/>
            </a:solidFill>
            <a:prstDash val="solid"/>
          </a:ln>
        </p:spPr>
      </p:sp>
      <p:sp>
        <p:nvSpPr>
          <p:cNvPr id="39" name="Text 36"/>
          <p:cNvSpPr/>
          <p:nvPr/>
        </p:nvSpPr>
        <p:spPr>
          <a:xfrm>
            <a:off x="7137400" y="4129683"/>
            <a:ext cx="43690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E0EA"/>
                </a:solidFill>
                <a:latin typeface="DM Sans" pitchFamily="34" charset="0"/>
                <a:ea typeface="DM Sans" pitchFamily="34" charset="-122"/>
                <a:cs typeface="DM Sans" pitchFamily="34" charset="-120"/>
              </a:rPr>
              <a:t>Resultado: alertas pendientes 4 → 2</a:t>
            </a:r>
            <a:endParaRPr lang="en-US" sz="1200" dirty="0"/>
          </a:p>
        </p:txBody>
      </p:sp>
      <p:sp>
        <p:nvSpPr>
          <p:cNvPr id="40" name="Text 3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7AAE"/>
                </a:solidFill>
                <a:latin typeface="DM Sans" pitchFamily="34" charset="0"/>
                <a:ea typeface="DM Sans" pitchFamily="34" charset="-122"/>
                <a:cs typeface="DM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FE0EA"/>
        </a:solidFill>
        <a:effectLst/>
      </p:bgPr>
    </p:bg>
    <p:spTree>
      <p:nvGrpSpPr>
        <p:cNvPr id="1" name=""/>
        <p:cNvGrpSpPr/>
        <p:nvPr/>
      </p:nvGrpSpPr>
      <p:grpSpPr>
        <a:xfrm>
          <a:off x="0" y="0"/>
          <a:ext cx="0" cy="0"/>
          <a:chOff x="0" y="0"/>
          <a:chExt cx="0" cy="0"/>
        </a:xfrm>
      </p:grpSpPr>
      <p:sp>
        <p:nvSpPr>
          <p:cNvPr id="2" name="Shape 0"/>
          <p:cNvSpPr/>
          <p:nvPr/>
        </p:nvSpPr>
        <p:spPr>
          <a:xfrm>
            <a:off x="812800" y="279400"/>
            <a:ext cx="1128812" cy="38100"/>
          </a:xfrm>
          <a:prstGeom prst="roundRect">
            <a:avLst>
              <a:gd name="adj" fmla="val 50000"/>
            </a:avLst>
          </a:prstGeom>
          <a:solidFill>
            <a:srgbClr val="0D1230">
              <a:alpha val="45000"/>
            </a:srgbClr>
          </a:solidFill>
          <a:ln/>
        </p:spPr>
      </p:sp>
      <p:sp>
        <p:nvSpPr>
          <p:cNvPr id="3" name="Text 1"/>
          <p:cNvSpPr/>
          <p:nvPr/>
        </p:nvSpPr>
        <p:spPr>
          <a:xfrm>
            <a:off x="812800"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Problema</a:t>
            </a:r>
            <a:endParaRPr lang="en-US" sz="1200" dirty="0"/>
          </a:p>
        </p:txBody>
      </p:sp>
      <p:sp>
        <p:nvSpPr>
          <p:cNvPr id="4" name="Shape 2"/>
          <p:cNvSpPr/>
          <p:nvPr/>
        </p:nvSpPr>
        <p:spPr>
          <a:xfrm>
            <a:off x="1992412" y="279400"/>
            <a:ext cx="1128911" cy="38100"/>
          </a:xfrm>
          <a:prstGeom prst="roundRect">
            <a:avLst>
              <a:gd name="adj" fmla="val 50000"/>
            </a:avLst>
          </a:prstGeom>
          <a:solidFill>
            <a:srgbClr val="0D1230">
              <a:alpha val="45000"/>
            </a:srgbClr>
          </a:solidFill>
          <a:ln/>
        </p:spPr>
      </p:sp>
      <p:sp>
        <p:nvSpPr>
          <p:cNvPr id="5" name="Text 3"/>
          <p:cNvSpPr/>
          <p:nvPr/>
        </p:nvSpPr>
        <p:spPr>
          <a:xfrm>
            <a:off x="1992412"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Datos</a:t>
            </a:r>
            <a:endParaRPr lang="en-US" sz="1200" dirty="0"/>
          </a:p>
        </p:txBody>
      </p:sp>
      <p:sp>
        <p:nvSpPr>
          <p:cNvPr id="6" name="Shape 4"/>
          <p:cNvSpPr/>
          <p:nvPr/>
        </p:nvSpPr>
        <p:spPr>
          <a:xfrm>
            <a:off x="3172123" y="279400"/>
            <a:ext cx="1128812" cy="38100"/>
          </a:xfrm>
          <a:prstGeom prst="roundRect">
            <a:avLst>
              <a:gd name="adj" fmla="val 50000"/>
            </a:avLst>
          </a:prstGeom>
          <a:solidFill>
            <a:srgbClr val="0D1230">
              <a:alpha val="45000"/>
            </a:srgbClr>
          </a:solidFill>
          <a:ln/>
        </p:spPr>
      </p:sp>
      <p:sp>
        <p:nvSpPr>
          <p:cNvPr id="7" name="Text 5"/>
          <p:cNvSpPr/>
          <p:nvPr/>
        </p:nvSpPr>
        <p:spPr>
          <a:xfrm>
            <a:off x="3172123" y="355600"/>
            <a:ext cx="11796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Catálogo</a:t>
            </a:r>
            <a:endParaRPr lang="en-US" sz="1200" dirty="0"/>
          </a:p>
        </p:txBody>
      </p:sp>
      <p:sp>
        <p:nvSpPr>
          <p:cNvPr id="8" name="Shape 6"/>
          <p:cNvSpPr/>
          <p:nvPr/>
        </p:nvSpPr>
        <p:spPr>
          <a:xfrm>
            <a:off x="4351734" y="279400"/>
            <a:ext cx="1128911" cy="38100"/>
          </a:xfrm>
          <a:prstGeom prst="roundRect">
            <a:avLst>
              <a:gd name="adj" fmla="val 50000"/>
            </a:avLst>
          </a:prstGeom>
          <a:solidFill>
            <a:srgbClr val="0D1230">
              <a:alpha val="45000"/>
            </a:srgbClr>
          </a:solidFill>
          <a:ln/>
        </p:spPr>
      </p:sp>
      <p:sp>
        <p:nvSpPr>
          <p:cNvPr id="9" name="Text 7"/>
          <p:cNvSpPr/>
          <p:nvPr/>
        </p:nvSpPr>
        <p:spPr>
          <a:xfrm>
            <a:off x="4351734"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Venta</a:t>
            </a:r>
            <a:endParaRPr lang="en-US" sz="1200" dirty="0"/>
          </a:p>
        </p:txBody>
      </p:sp>
      <p:sp>
        <p:nvSpPr>
          <p:cNvPr id="10" name="Shape 8"/>
          <p:cNvSpPr/>
          <p:nvPr/>
        </p:nvSpPr>
        <p:spPr>
          <a:xfrm>
            <a:off x="5531445" y="279400"/>
            <a:ext cx="1128911" cy="38100"/>
          </a:xfrm>
          <a:prstGeom prst="roundRect">
            <a:avLst>
              <a:gd name="adj" fmla="val 50000"/>
            </a:avLst>
          </a:prstGeom>
          <a:solidFill>
            <a:srgbClr val="0D1230">
              <a:alpha val="45000"/>
            </a:srgbClr>
          </a:solidFill>
          <a:ln/>
        </p:spPr>
      </p:sp>
      <p:sp>
        <p:nvSpPr>
          <p:cNvPr id="11" name="Text 9"/>
          <p:cNvSpPr/>
          <p:nvPr/>
        </p:nvSpPr>
        <p:spPr>
          <a:xfrm>
            <a:off x="5531445"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Anulación</a:t>
            </a:r>
            <a:endParaRPr lang="en-US" sz="1200" dirty="0"/>
          </a:p>
        </p:txBody>
      </p:sp>
      <p:sp>
        <p:nvSpPr>
          <p:cNvPr id="12" name="Shape 10"/>
          <p:cNvSpPr/>
          <p:nvPr/>
        </p:nvSpPr>
        <p:spPr>
          <a:xfrm>
            <a:off x="6711156" y="279400"/>
            <a:ext cx="1128911" cy="38100"/>
          </a:xfrm>
          <a:prstGeom prst="roundRect">
            <a:avLst>
              <a:gd name="adj" fmla="val 50000"/>
            </a:avLst>
          </a:prstGeom>
          <a:solidFill>
            <a:srgbClr val="0D1230">
              <a:alpha val="45000"/>
            </a:srgbClr>
          </a:solidFill>
          <a:ln/>
        </p:spPr>
      </p:sp>
      <p:sp>
        <p:nvSpPr>
          <p:cNvPr id="13" name="Text 11"/>
          <p:cNvSpPr/>
          <p:nvPr/>
        </p:nvSpPr>
        <p:spPr>
          <a:xfrm>
            <a:off x="6711156"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Inventario</a:t>
            </a:r>
            <a:endParaRPr lang="en-US" sz="1200" dirty="0"/>
          </a:p>
        </p:txBody>
      </p:sp>
      <p:sp>
        <p:nvSpPr>
          <p:cNvPr id="14" name="Shape 12"/>
          <p:cNvSpPr/>
          <p:nvPr/>
        </p:nvSpPr>
        <p:spPr>
          <a:xfrm>
            <a:off x="7890867" y="279400"/>
            <a:ext cx="1128911" cy="38100"/>
          </a:xfrm>
          <a:prstGeom prst="roundRect">
            <a:avLst>
              <a:gd name="adj" fmla="val 50000"/>
            </a:avLst>
          </a:prstGeom>
          <a:solidFill>
            <a:srgbClr val="0D1230">
              <a:alpha val="45000"/>
            </a:srgbClr>
          </a:solidFill>
          <a:ln/>
        </p:spPr>
      </p:sp>
      <p:sp>
        <p:nvSpPr>
          <p:cNvPr id="15" name="Text 13"/>
          <p:cNvSpPr/>
          <p:nvPr/>
        </p:nvSpPr>
        <p:spPr>
          <a:xfrm>
            <a:off x="7890867"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Cierre día</a:t>
            </a:r>
            <a:endParaRPr lang="en-US" sz="1200" dirty="0"/>
          </a:p>
        </p:txBody>
      </p:sp>
      <p:sp>
        <p:nvSpPr>
          <p:cNvPr id="16" name="Shape 14"/>
          <p:cNvSpPr/>
          <p:nvPr/>
        </p:nvSpPr>
        <p:spPr>
          <a:xfrm>
            <a:off x="9070578" y="279400"/>
            <a:ext cx="1128911" cy="38100"/>
          </a:xfrm>
          <a:prstGeom prst="roundRect">
            <a:avLst>
              <a:gd name="adj" fmla="val 50000"/>
            </a:avLst>
          </a:prstGeom>
          <a:solidFill>
            <a:srgbClr val="0D1230">
              <a:alpha val="45000"/>
            </a:srgbClr>
          </a:solidFill>
          <a:ln/>
        </p:spPr>
      </p:sp>
      <p:sp>
        <p:nvSpPr>
          <p:cNvPr id="17" name="Text 15"/>
          <p:cNvSpPr/>
          <p:nvPr/>
        </p:nvSpPr>
        <p:spPr>
          <a:xfrm>
            <a:off x="9070578"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Chakra Petch" pitchFamily="34" charset="0"/>
                <a:ea typeface="Chakra Petch" pitchFamily="34" charset="-122"/>
                <a:cs typeface="Chakra Petch" pitchFamily="34" charset="-120"/>
              </a:rPr>
              <a:t>Evidencia</a:t>
            </a:r>
            <a:endParaRPr lang="en-US" sz="1200" dirty="0"/>
          </a:p>
        </p:txBody>
      </p:sp>
      <p:sp>
        <p:nvSpPr>
          <p:cNvPr id="18" name="Shape 16"/>
          <p:cNvSpPr/>
          <p:nvPr/>
        </p:nvSpPr>
        <p:spPr>
          <a:xfrm>
            <a:off x="10250289" y="279400"/>
            <a:ext cx="1128911" cy="38100"/>
          </a:xfrm>
          <a:prstGeom prst="roundRect">
            <a:avLst>
              <a:gd name="adj" fmla="val 50000"/>
            </a:avLst>
          </a:prstGeom>
          <a:solidFill>
            <a:srgbClr val="0D1230"/>
          </a:solidFill>
          <a:ln/>
        </p:spPr>
      </p:sp>
      <p:sp>
        <p:nvSpPr>
          <p:cNvPr id="19" name="Text 17"/>
          <p:cNvSpPr/>
          <p:nvPr/>
        </p:nvSpPr>
        <p:spPr>
          <a:xfrm>
            <a:off x="10250289" y="355600"/>
            <a:ext cx="1179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1230"/>
                </a:solidFill>
                <a:latin typeface="Chakra Petch" pitchFamily="34" charset="0"/>
                <a:ea typeface="Chakra Petch" pitchFamily="34" charset="-122"/>
                <a:cs typeface="Chakra Petch" pitchFamily="34" charset="-120"/>
              </a:rPr>
              <a:t>Final</a:t>
            </a:r>
            <a:endParaRPr lang="en-US" sz="1200" dirty="0"/>
          </a:p>
        </p:txBody>
      </p:sp>
      <p:sp>
        <p:nvSpPr>
          <p:cNvPr id="20" name="Text 18"/>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D1230"/>
                </a:solidFill>
                <a:latin typeface="Chakra Petch" pitchFamily="34" charset="0"/>
                <a:ea typeface="Chakra Petch" pitchFamily="34" charset="-122"/>
                <a:cs typeface="Chakra Petch" pitchFamily="34" charset="-120"/>
              </a:rPr>
              <a:t>CONCLUSIÓN</a:t>
            </a:r>
            <a:endParaRPr lang="en-US" sz="1400" dirty="0"/>
          </a:p>
        </p:txBody>
      </p:sp>
      <p:sp>
        <p:nvSpPr>
          <p:cNvPr id="21" name="Text 19"/>
          <p:cNvSpPr>
            <a:spLocks noGrp="1"/>
          </p:cNvSpPr>
          <p:nvPr>
            <p:ph type="title"/>
          </p:nvPr>
        </p:nvSpPr>
        <p:spPr>
          <a:xfrm>
            <a:off x="812800" y="12013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D1230"/>
                </a:solidFill>
                <a:latin typeface="Chakra Petch" pitchFamily="34" charset="0"/>
                <a:ea typeface="Chakra Petch" pitchFamily="34" charset="-122"/>
                <a:cs typeface="Chakra Petch" pitchFamily="34" charset="-120"/>
              </a:rPr>
              <a:t>Una tienda que se controla sola</a:t>
            </a:r>
            <a:endParaRPr lang="en-US" sz="3200" dirty="0"/>
          </a:p>
        </p:txBody>
      </p:sp>
      <p:sp>
        <p:nvSpPr>
          <p:cNvPr id="22" name="Text 20"/>
          <p:cNvSpPr/>
          <p:nvPr/>
        </p:nvSpPr>
        <p:spPr>
          <a:xfrm>
            <a:off x="812800" y="178802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0D1230"/>
                </a:solidFill>
                <a:latin typeface="Chakra Petch" pitchFamily="34" charset="0"/>
                <a:ea typeface="Chakra Petch" pitchFamily="34" charset="-122"/>
                <a:cs typeface="Chakra Petch" pitchFamily="34" charset="-120"/>
              </a:rPr>
              <a:t>LO QUE HACE LENZ GAMES</a:t>
            </a:r>
            <a:endParaRPr lang="en-US" sz="1300" dirty="0"/>
          </a:p>
        </p:txBody>
      </p:sp>
      <p:sp>
        <p:nvSpPr>
          <p:cNvPr id="23" name="Shape 21"/>
          <p:cNvSpPr/>
          <p:nvPr/>
        </p:nvSpPr>
        <p:spPr>
          <a:xfrm>
            <a:off x="812800" y="2158802"/>
            <a:ext cx="2546350" cy="1000621"/>
          </a:xfrm>
          <a:prstGeom prst="roundRect">
            <a:avLst>
              <a:gd name="adj" fmla="val 8884"/>
            </a:avLst>
          </a:prstGeom>
          <a:solidFill>
            <a:srgbClr val="0D1230"/>
          </a:solidFill>
          <a:ln/>
        </p:spPr>
      </p:sp>
      <p:sp>
        <p:nvSpPr>
          <p:cNvPr id="24" name="Text 22"/>
          <p:cNvSpPr/>
          <p:nvPr/>
        </p:nvSpPr>
        <p:spPr>
          <a:xfrm>
            <a:off x="977900" y="2298502"/>
            <a:ext cx="22826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FE0EA"/>
                </a:solidFill>
                <a:latin typeface="Chakra Petch" pitchFamily="34" charset="0"/>
                <a:ea typeface="Chakra Petch" pitchFamily="34" charset="-122"/>
                <a:cs typeface="Chakra Petch" pitchFamily="34" charset="-120"/>
              </a:rPr>
              <a:t>Vende sin errores</a:t>
            </a:r>
            <a:endParaRPr lang="en-US" sz="1600" dirty="0"/>
          </a:p>
        </p:txBody>
      </p:sp>
      <p:sp>
        <p:nvSpPr>
          <p:cNvPr id="25" name="Text 23"/>
          <p:cNvSpPr/>
          <p:nvPr/>
        </p:nvSpPr>
        <p:spPr>
          <a:xfrm>
            <a:off x="977900" y="2593082"/>
            <a:ext cx="22826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2FF"/>
                </a:solidFill>
                <a:latin typeface="DM Sans" pitchFamily="34" charset="0"/>
                <a:ea typeface="DM Sans" pitchFamily="34" charset="-122"/>
                <a:cs typeface="DM Sans" pitchFamily="34" charset="-120"/>
              </a:rPr>
              <a:t>Cobra el precio de lista y descuenta el stock solo.</a:t>
            </a:r>
            <a:endParaRPr lang="en-US" sz="1200" dirty="0"/>
          </a:p>
        </p:txBody>
      </p:sp>
      <p:sp>
        <p:nvSpPr>
          <p:cNvPr id="26" name="Shape 24"/>
          <p:cNvSpPr/>
          <p:nvPr/>
        </p:nvSpPr>
        <p:spPr>
          <a:xfrm>
            <a:off x="3486150" y="2158802"/>
            <a:ext cx="2546350" cy="1000621"/>
          </a:xfrm>
          <a:prstGeom prst="roundRect">
            <a:avLst>
              <a:gd name="adj" fmla="val 8884"/>
            </a:avLst>
          </a:prstGeom>
          <a:solidFill>
            <a:srgbClr val="0D1230"/>
          </a:solidFill>
          <a:ln/>
        </p:spPr>
      </p:sp>
      <p:sp>
        <p:nvSpPr>
          <p:cNvPr id="27" name="Text 25"/>
          <p:cNvSpPr/>
          <p:nvPr/>
        </p:nvSpPr>
        <p:spPr>
          <a:xfrm>
            <a:off x="3651250" y="2298502"/>
            <a:ext cx="238125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6FAE"/>
                </a:solidFill>
                <a:latin typeface="Chakra Petch" pitchFamily="34" charset="0"/>
                <a:ea typeface="Chakra Petch" pitchFamily="34" charset="-122"/>
                <a:cs typeface="Chakra Petch" pitchFamily="34" charset="-120"/>
              </a:rPr>
              <a:t>Corrige sin descuadrar</a:t>
            </a:r>
            <a:endParaRPr lang="en-US" sz="1600" dirty="0"/>
          </a:p>
        </p:txBody>
      </p:sp>
      <p:sp>
        <p:nvSpPr>
          <p:cNvPr id="28" name="Text 26"/>
          <p:cNvSpPr/>
          <p:nvPr/>
        </p:nvSpPr>
        <p:spPr>
          <a:xfrm>
            <a:off x="3651250" y="2593082"/>
            <a:ext cx="22826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2FF"/>
                </a:solidFill>
                <a:latin typeface="DM Sans" pitchFamily="34" charset="0"/>
                <a:ea typeface="DM Sans" pitchFamily="34" charset="-122"/>
                <a:cs typeface="DM Sans" pitchFamily="34" charset="-120"/>
              </a:rPr>
              <a:t>Anula ventas, devuelve el stock y guarda respaldo.</a:t>
            </a:r>
            <a:endParaRPr lang="en-US" sz="1200" dirty="0"/>
          </a:p>
        </p:txBody>
      </p:sp>
      <p:sp>
        <p:nvSpPr>
          <p:cNvPr id="29" name="Shape 27"/>
          <p:cNvSpPr/>
          <p:nvPr/>
        </p:nvSpPr>
        <p:spPr>
          <a:xfrm>
            <a:off x="6159500" y="2158802"/>
            <a:ext cx="2546350" cy="1000621"/>
          </a:xfrm>
          <a:prstGeom prst="roundRect">
            <a:avLst>
              <a:gd name="adj" fmla="val 8884"/>
            </a:avLst>
          </a:prstGeom>
          <a:solidFill>
            <a:srgbClr val="0D1230"/>
          </a:solidFill>
          <a:ln/>
        </p:spPr>
      </p:sp>
      <p:sp>
        <p:nvSpPr>
          <p:cNvPr id="30" name="Text 28"/>
          <p:cNvSpPr/>
          <p:nvPr/>
        </p:nvSpPr>
        <p:spPr>
          <a:xfrm>
            <a:off x="6324600" y="2298502"/>
            <a:ext cx="22826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FE0EA"/>
                </a:solidFill>
                <a:latin typeface="Chakra Petch" pitchFamily="34" charset="0"/>
                <a:ea typeface="Chakra Petch" pitchFamily="34" charset="-122"/>
                <a:cs typeface="Chakra Petch" pitchFamily="34" charset="-120"/>
              </a:rPr>
              <a:t>Avisa y repone</a:t>
            </a:r>
            <a:endParaRPr lang="en-US" sz="1600" dirty="0"/>
          </a:p>
        </p:txBody>
      </p:sp>
      <p:sp>
        <p:nvSpPr>
          <p:cNvPr id="31" name="Text 29"/>
          <p:cNvSpPr/>
          <p:nvPr/>
        </p:nvSpPr>
        <p:spPr>
          <a:xfrm>
            <a:off x="6324600" y="2593082"/>
            <a:ext cx="22826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2FF"/>
                </a:solidFill>
                <a:latin typeface="DM Sans" pitchFamily="34" charset="0"/>
                <a:ea typeface="DM Sans" pitchFamily="34" charset="-122"/>
                <a:cs typeface="DM Sans" pitchFamily="34" charset="-120"/>
              </a:rPr>
              <a:t>Abre y cierra alertas y sugiere cuánto comprar.</a:t>
            </a:r>
            <a:endParaRPr lang="en-US" sz="1200" dirty="0"/>
          </a:p>
        </p:txBody>
      </p:sp>
      <p:sp>
        <p:nvSpPr>
          <p:cNvPr id="32" name="Shape 30"/>
          <p:cNvSpPr/>
          <p:nvPr/>
        </p:nvSpPr>
        <p:spPr>
          <a:xfrm>
            <a:off x="8832850" y="2158802"/>
            <a:ext cx="2546350" cy="1000621"/>
          </a:xfrm>
          <a:prstGeom prst="roundRect">
            <a:avLst>
              <a:gd name="adj" fmla="val 8884"/>
            </a:avLst>
          </a:prstGeom>
          <a:solidFill>
            <a:srgbClr val="0D1230"/>
          </a:solidFill>
          <a:ln/>
        </p:spPr>
      </p:sp>
      <p:sp>
        <p:nvSpPr>
          <p:cNvPr id="33" name="Text 31"/>
          <p:cNvSpPr/>
          <p:nvPr/>
        </p:nvSpPr>
        <p:spPr>
          <a:xfrm>
            <a:off x="8997950" y="2298502"/>
            <a:ext cx="22826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7C1FF"/>
                </a:solidFill>
                <a:latin typeface="Chakra Petch" pitchFamily="34" charset="0"/>
                <a:ea typeface="Chakra Petch" pitchFamily="34" charset="-122"/>
                <a:cs typeface="Chakra Petch" pitchFamily="34" charset="-120"/>
              </a:rPr>
              <a:t>Cierra y registra todo</a:t>
            </a:r>
            <a:endParaRPr lang="en-US" sz="1600" dirty="0"/>
          </a:p>
        </p:txBody>
      </p:sp>
      <p:sp>
        <p:nvSpPr>
          <p:cNvPr id="34" name="Text 32"/>
          <p:cNvSpPr/>
          <p:nvPr/>
        </p:nvSpPr>
        <p:spPr>
          <a:xfrm>
            <a:off x="8997950" y="2593082"/>
            <a:ext cx="22826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2FF"/>
                </a:solidFill>
                <a:latin typeface="DM Sans" pitchFamily="34" charset="0"/>
                <a:ea typeface="DM Sans" pitchFamily="34" charset="-122"/>
                <a:cs typeface="DM Sans" pitchFamily="34" charset="-120"/>
              </a:rPr>
              <a:t>Resume el día y audita cada cambio.</a:t>
            </a:r>
            <a:endParaRPr lang="en-US" sz="1200" dirty="0"/>
          </a:p>
        </p:txBody>
      </p:sp>
      <p:sp>
        <p:nvSpPr>
          <p:cNvPr id="35" name="Text 33"/>
          <p:cNvSpPr/>
          <p:nvPr/>
        </p:nvSpPr>
        <p:spPr>
          <a:xfrm>
            <a:off x="812800" y="3299123"/>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0D1230"/>
                </a:solidFill>
                <a:latin typeface="Chakra Petch" pitchFamily="34" charset="0"/>
                <a:ea typeface="Chakra Petch" pitchFamily="34" charset="-122"/>
                <a:cs typeface="Chakra Petch" pitchFamily="34" charset="-120"/>
              </a:rPr>
              <a:t>MEJORAS PROPUESTAS</a:t>
            </a:r>
            <a:endParaRPr lang="en-US" sz="1300" dirty="0"/>
          </a:p>
        </p:txBody>
      </p:sp>
      <p:sp>
        <p:nvSpPr>
          <p:cNvPr id="36" name="Shape 34"/>
          <p:cNvSpPr/>
          <p:nvPr/>
        </p:nvSpPr>
        <p:spPr>
          <a:xfrm>
            <a:off x="819150" y="3676253"/>
            <a:ext cx="2533650" cy="919361"/>
          </a:xfrm>
          <a:prstGeom prst="roundRect">
            <a:avLst>
              <a:gd name="adj" fmla="val 8979"/>
            </a:avLst>
          </a:prstGeom>
          <a:solidFill>
            <a:srgbClr val="E9FBFC"/>
          </a:solidFill>
          <a:ln w="12700">
            <a:solidFill>
              <a:srgbClr val="0D1230"/>
            </a:solidFill>
            <a:prstDash val="solid"/>
          </a:ln>
        </p:spPr>
      </p:sp>
      <p:sp>
        <p:nvSpPr>
          <p:cNvPr id="37" name="Text 35"/>
          <p:cNvSpPr/>
          <p:nvPr/>
        </p:nvSpPr>
        <p:spPr>
          <a:xfrm>
            <a:off x="965200" y="3796903"/>
            <a:ext cx="185241" cy="213320"/>
          </a:xfrm>
          <a:custGeom>
            <a:avLst/>
            <a:gdLst/>
            <a:ahLst/>
            <a:cxnLst/>
            <a:rect l="l" t="t" r="r" b="b"/>
            <a:pathLst>
              <a:path w="185241" h="213320">
                <a:moveTo>
                  <a:pt x="38100" y="0"/>
                </a:moveTo>
                <a:lnTo>
                  <a:pt x="147141" y="0"/>
                </a:lnTo>
                <a:arcTo wR="38100" hR="38100" stAng="16200000" swAng="5400000"/>
                <a:lnTo>
                  <a:pt x="185241" y="175220"/>
                </a:lnTo>
                <a:arcTo wR="38100" hR="38100" stAng="0" swAng="5400000"/>
                <a:lnTo>
                  <a:pt x="38100" y="213320"/>
                </a:lnTo>
                <a:arcTo wR="38100" hR="38100" stAng="5400000" swAng="5400000"/>
                <a:lnTo>
                  <a:pt x="0" y="38100"/>
                </a:lnTo>
                <a:arcTo wR="38100" hR="38100" stAng="10800000" swAng="5400000"/>
                <a:close/>
              </a:path>
            </a:pathLst>
          </a:custGeom>
          <a:solidFill>
            <a:srgbClr val="0D1230"/>
          </a:solidFill>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1</a:t>
            </a:r>
            <a:endParaRPr lang="en-US" sz="1200" dirty="0"/>
          </a:p>
        </p:txBody>
      </p:sp>
      <p:sp>
        <p:nvSpPr>
          <p:cNvPr id="38" name="Text 36"/>
          <p:cNvSpPr/>
          <p:nvPr/>
        </p:nvSpPr>
        <p:spPr>
          <a:xfrm>
            <a:off x="1213941" y="3796903"/>
            <a:ext cx="182999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D1230"/>
                </a:solidFill>
                <a:latin typeface="Chakra Petch" pitchFamily="34" charset="0"/>
                <a:ea typeface="Chakra Petch" pitchFamily="34" charset="-122"/>
                <a:cs typeface="Chakra Petch" pitchFamily="34" charset="-120"/>
              </a:rPr>
              <a:t>Cierre automático</a:t>
            </a:r>
            <a:endParaRPr lang="en-US" sz="1400" dirty="0"/>
          </a:p>
        </p:txBody>
      </p:sp>
      <p:sp>
        <p:nvSpPr>
          <p:cNvPr id="39" name="Text 37"/>
          <p:cNvSpPr/>
          <p:nvPr/>
        </p:nvSpPr>
        <p:spPr>
          <a:xfrm>
            <a:off x="965200" y="4048323"/>
            <a:ext cx="2308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DM Sans" pitchFamily="34" charset="0"/>
                <a:ea typeface="DM Sans" pitchFamily="34" charset="-122"/>
                <a:cs typeface="DM Sans" pitchFamily="34" charset="-120"/>
              </a:rPr>
              <a:t>DBMS_SCHEDULER lo ejecuta cada noche.</a:t>
            </a:r>
            <a:endParaRPr lang="en-US" sz="1200" dirty="0"/>
          </a:p>
        </p:txBody>
      </p:sp>
      <p:sp>
        <p:nvSpPr>
          <p:cNvPr id="40" name="Shape 38"/>
          <p:cNvSpPr/>
          <p:nvPr/>
        </p:nvSpPr>
        <p:spPr>
          <a:xfrm>
            <a:off x="3492500" y="3676253"/>
            <a:ext cx="2533650" cy="919361"/>
          </a:xfrm>
          <a:prstGeom prst="roundRect">
            <a:avLst>
              <a:gd name="adj" fmla="val 8979"/>
            </a:avLst>
          </a:prstGeom>
          <a:solidFill>
            <a:srgbClr val="E9FBFC"/>
          </a:solidFill>
          <a:ln w="12700">
            <a:solidFill>
              <a:srgbClr val="0D1230"/>
            </a:solidFill>
            <a:prstDash val="solid"/>
          </a:ln>
        </p:spPr>
      </p:sp>
      <p:sp>
        <p:nvSpPr>
          <p:cNvPr id="41" name="Text 39"/>
          <p:cNvSpPr/>
          <p:nvPr/>
        </p:nvSpPr>
        <p:spPr>
          <a:xfrm>
            <a:off x="3638550" y="3796903"/>
            <a:ext cx="214511" cy="213320"/>
          </a:xfrm>
          <a:custGeom>
            <a:avLst/>
            <a:gdLst/>
            <a:ahLst/>
            <a:cxnLst/>
            <a:rect l="l" t="t" r="r" b="b"/>
            <a:pathLst>
              <a:path w="214511" h="213320">
                <a:moveTo>
                  <a:pt x="38100" y="0"/>
                </a:moveTo>
                <a:lnTo>
                  <a:pt x="176411" y="0"/>
                </a:lnTo>
                <a:arcTo wR="38100" hR="38100" stAng="16200000" swAng="5400000"/>
                <a:lnTo>
                  <a:pt x="214511" y="175220"/>
                </a:lnTo>
                <a:arcTo wR="38100" hR="38100" stAng="0" swAng="5400000"/>
                <a:lnTo>
                  <a:pt x="38100" y="213320"/>
                </a:lnTo>
                <a:arcTo wR="38100" hR="38100" stAng="5400000" swAng="5400000"/>
                <a:lnTo>
                  <a:pt x="0" y="38100"/>
                </a:lnTo>
                <a:arcTo wR="38100" hR="38100" stAng="10800000" swAng="5400000"/>
                <a:close/>
              </a:path>
            </a:pathLst>
          </a:custGeom>
          <a:solidFill>
            <a:srgbClr val="0D1230"/>
          </a:solidFill>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2</a:t>
            </a:r>
            <a:endParaRPr lang="en-US" sz="1200" dirty="0"/>
          </a:p>
        </p:txBody>
      </p:sp>
      <p:sp>
        <p:nvSpPr>
          <p:cNvPr id="42" name="Text 40"/>
          <p:cNvSpPr/>
          <p:nvPr/>
        </p:nvSpPr>
        <p:spPr>
          <a:xfrm>
            <a:off x="3916561" y="3796903"/>
            <a:ext cx="127277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D1230"/>
                </a:solidFill>
                <a:latin typeface="Chakra Petch" pitchFamily="34" charset="0"/>
                <a:ea typeface="Chakra Petch" pitchFamily="34" charset="-122"/>
                <a:cs typeface="Chakra Petch" pitchFamily="34" charset="-120"/>
              </a:rPr>
              <a:t>Proveedores</a:t>
            </a:r>
            <a:endParaRPr lang="en-US" sz="1400" dirty="0"/>
          </a:p>
        </p:txBody>
      </p:sp>
      <p:sp>
        <p:nvSpPr>
          <p:cNvPr id="43" name="Text 41"/>
          <p:cNvSpPr/>
          <p:nvPr/>
        </p:nvSpPr>
        <p:spPr>
          <a:xfrm>
            <a:off x="3638550" y="4048323"/>
            <a:ext cx="2308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DM Sans" pitchFamily="34" charset="0"/>
                <a:ea typeface="DM Sans" pitchFamily="34" charset="-122"/>
                <a:cs typeface="DM Sans" pitchFamily="34" charset="-120"/>
              </a:rPr>
              <a:t>La sugerencia crea la orden de compra.</a:t>
            </a:r>
            <a:endParaRPr lang="en-US" sz="1200" dirty="0"/>
          </a:p>
        </p:txBody>
      </p:sp>
      <p:sp>
        <p:nvSpPr>
          <p:cNvPr id="44" name="Shape 42"/>
          <p:cNvSpPr/>
          <p:nvPr/>
        </p:nvSpPr>
        <p:spPr>
          <a:xfrm>
            <a:off x="6165850" y="3676253"/>
            <a:ext cx="2533650" cy="919361"/>
          </a:xfrm>
          <a:prstGeom prst="roundRect">
            <a:avLst>
              <a:gd name="adj" fmla="val 8979"/>
            </a:avLst>
          </a:prstGeom>
          <a:solidFill>
            <a:srgbClr val="E9FBFC"/>
          </a:solidFill>
          <a:ln w="12700">
            <a:solidFill>
              <a:srgbClr val="0D1230"/>
            </a:solidFill>
            <a:prstDash val="solid"/>
          </a:ln>
        </p:spPr>
      </p:sp>
      <p:sp>
        <p:nvSpPr>
          <p:cNvPr id="45" name="Text 43"/>
          <p:cNvSpPr/>
          <p:nvPr/>
        </p:nvSpPr>
        <p:spPr>
          <a:xfrm>
            <a:off x="6311900" y="3796903"/>
            <a:ext cx="218976" cy="213320"/>
          </a:xfrm>
          <a:custGeom>
            <a:avLst/>
            <a:gdLst/>
            <a:ahLst/>
            <a:cxnLst/>
            <a:rect l="l" t="t" r="r" b="b"/>
            <a:pathLst>
              <a:path w="218976" h="213320">
                <a:moveTo>
                  <a:pt x="38100" y="0"/>
                </a:moveTo>
                <a:lnTo>
                  <a:pt x="180876" y="0"/>
                </a:lnTo>
                <a:arcTo wR="38100" hR="38100" stAng="16200000" swAng="5400000"/>
                <a:lnTo>
                  <a:pt x="218976" y="175220"/>
                </a:lnTo>
                <a:arcTo wR="38100" hR="38100" stAng="0" swAng="5400000"/>
                <a:lnTo>
                  <a:pt x="38100" y="213320"/>
                </a:lnTo>
                <a:arcTo wR="38100" hR="38100" stAng="5400000" swAng="5400000"/>
                <a:lnTo>
                  <a:pt x="0" y="38100"/>
                </a:lnTo>
                <a:arcTo wR="38100" hR="38100" stAng="10800000" swAng="5400000"/>
                <a:close/>
              </a:path>
            </a:pathLst>
          </a:custGeom>
          <a:solidFill>
            <a:srgbClr val="0D1230"/>
          </a:solidFill>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3</a:t>
            </a:r>
            <a:endParaRPr lang="en-US" sz="1200" dirty="0"/>
          </a:p>
        </p:txBody>
      </p:sp>
      <p:sp>
        <p:nvSpPr>
          <p:cNvPr id="46" name="Text 44"/>
          <p:cNvSpPr/>
          <p:nvPr/>
        </p:nvSpPr>
        <p:spPr>
          <a:xfrm>
            <a:off x="6594376" y="3796903"/>
            <a:ext cx="186059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D1230"/>
                </a:solidFill>
                <a:latin typeface="Chakra Petch" pitchFamily="34" charset="0"/>
                <a:ea typeface="Chakra Petch" pitchFamily="34" charset="-122"/>
                <a:cs typeface="Chakra Petch" pitchFamily="34" charset="-120"/>
              </a:rPr>
              <a:t>Devolución parcial</a:t>
            </a:r>
            <a:endParaRPr lang="en-US" sz="1400" dirty="0"/>
          </a:p>
        </p:txBody>
      </p:sp>
      <p:sp>
        <p:nvSpPr>
          <p:cNvPr id="47" name="Text 45"/>
          <p:cNvSpPr/>
          <p:nvPr/>
        </p:nvSpPr>
        <p:spPr>
          <a:xfrm>
            <a:off x="6311900" y="4048323"/>
            <a:ext cx="2308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DM Sans" pitchFamily="34" charset="0"/>
                <a:ea typeface="DM Sans" pitchFamily="34" charset="-122"/>
                <a:cs typeface="DM Sans" pitchFamily="34" charset="-120"/>
              </a:rPr>
              <a:t>Anular un solo juego de la venta.</a:t>
            </a:r>
            <a:endParaRPr lang="en-US" sz="1200" dirty="0"/>
          </a:p>
        </p:txBody>
      </p:sp>
      <p:sp>
        <p:nvSpPr>
          <p:cNvPr id="48" name="Shape 46"/>
          <p:cNvSpPr/>
          <p:nvPr/>
        </p:nvSpPr>
        <p:spPr>
          <a:xfrm>
            <a:off x="8839200" y="3676253"/>
            <a:ext cx="2533650" cy="919361"/>
          </a:xfrm>
          <a:prstGeom prst="roundRect">
            <a:avLst>
              <a:gd name="adj" fmla="val 8979"/>
            </a:avLst>
          </a:prstGeom>
          <a:solidFill>
            <a:srgbClr val="E9FBFC"/>
          </a:solidFill>
          <a:ln w="12700">
            <a:solidFill>
              <a:srgbClr val="0D1230"/>
            </a:solidFill>
            <a:prstDash val="solid"/>
          </a:ln>
        </p:spPr>
      </p:sp>
      <p:sp>
        <p:nvSpPr>
          <p:cNvPr id="49" name="Text 47"/>
          <p:cNvSpPr/>
          <p:nvPr/>
        </p:nvSpPr>
        <p:spPr>
          <a:xfrm>
            <a:off x="8985250" y="3796903"/>
            <a:ext cx="215305" cy="213320"/>
          </a:xfrm>
          <a:custGeom>
            <a:avLst/>
            <a:gdLst/>
            <a:ahLst/>
            <a:cxnLst/>
            <a:rect l="l" t="t" r="r" b="b"/>
            <a:pathLst>
              <a:path w="215305" h="213320">
                <a:moveTo>
                  <a:pt x="38100" y="0"/>
                </a:moveTo>
                <a:lnTo>
                  <a:pt x="177205" y="0"/>
                </a:lnTo>
                <a:arcTo wR="38100" hR="38100" stAng="16200000" swAng="5400000"/>
                <a:lnTo>
                  <a:pt x="215305" y="175220"/>
                </a:lnTo>
                <a:arcTo wR="38100" hR="38100" stAng="0" swAng="5400000"/>
                <a:lnTo>
                  <a:pt x="38100" y="213320"/>
                </a:lnTo>
                <a:arcTo wR="38100" hR="38100" stAng="5400000" swAng="5400000"/>
                <a:lnTo>
                  <a:pt x="0" y="38100"/>
                </a:lnTo>
                <a:arcTo wR="38100" hR="38100" stAng="10800000" swAng="5400000"/>
                <a:close/>
              </a:path>
            </a:pathLst>
          </a:custGeom>
          <a:solidFill>
            <a:srgbClr val="0D1230"/>
          </a:solidFill>
          <a:ln/>
        </p:spPr>
        <p:txBody>
          <a:bodyPr wrap="none" lIns="0" tIns="0" rIns="0" bIns="0" rtlCol="0" anchor="ctr">
            <a:normAutofit/>
          </a:bodyPr>
          <a:lstStyle/>
          <a:p>
            <a:pPr marL="0" indent="0" algn="ctr">
              <a:lnSpc>
                <a:spcPts val="1680"/>
              </a:lnSpc>
              <a:buNone/>
            </a:pPr>
            <a:r>
              <a:rPr lang="en-US" sz="1200" b="1" dirty="0">
                <a:solidFill>
                  <a:srgbClr val="3FE0EA"/>
                </a:solidFill>
                <a:latin typeface="Chakra Petch" pitchFamily="34" charset="0"/>
                <a:ea typeface="Chakra Petch" pitchFamily="34" charset="-122"/>
                <a:cs typeface="Chakra Petch" pitchFamily="34" charset="-120"/>
              </a:rPr>
              <a:t>4</a:t>
            </a:r>
            <a:endParaRPr lang="en-US" sz="1200" dirty="0"/>
          </a:p>
        </p:txBody>
      </p:sp>
      <p:sp>
        <p:nvSpPr>
          <p:cNvPr id="50" name="Text 48"/>
          <p:cNvSpPr/>
          <p:nvPr/>
        </p:nvSpPr>
        <p:spPr>
          <a:xfrm>
            <a:off x="9264055" y="3796903"/>
            <a:ext cx="166318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D1230"/>
                </a:solidFill>
                <a:latin typeface="Chakra Petch" pitchFamily="34" charset="0"/>
                <a:ea typeface="Chakra Petch" pitchFamily="34" charset="-122"/>
                <a:cs typeface="Chakra Petch" pitchFamily="34" charset="-120"/>
              </a:rPr>
              <a:t>Permisos por rol</a:t>
            </a:r>
            <a:endParaRPr lang="en-US" sz="1400" dirty="0"/>
          </a:p>
        </p:txBody>
      </p:sp>
      <p:sp>
        <p:nvSpPr>
          <p:cNvPr id="51" name="Text 49"/>
          <p:cNvSpPr/>
          <p:nvPr/>
        </p:nvSpPr>
        <p:spPr>
          <a:xfrm>
            <a:off x="8985250" y="4048323"/>
            <a:ext cx="230879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E3B5C"/>
                </a:solidFill>
                <a:latin typeface="DM Sans" pitchFamily="34" charset="0"/>
                <a:ea typeface="DM Sans" pitchFamily="34" charset="-122"/>
                <a:cs typeface="DM Sans" pitchFamily="34" charset="-120"/>
              </a:rPr>
              <a:t>El vendedor solo usa pkg_ventas.</a:t>
            </a:r>
            <a:endParaRPr lang="en-US" sz="1200" dirty="0"/>
          </a:p>
        </p:txBody>
      </p:sp>
      <p:sp>
        <p:nvSpPr>
          <p:cNvPr id="52" name="Text 5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E3B5C"/>
                </a:solidFill>
                <a:latin typeface="DM Sans" pitchFamily="34" charset="0"/>
                <a:ea typeface="DM Sans" pitchFamily="34" charset="-122"/>
                <a:cs typeface="DM Sans" pitchFamily="34" charset="-120"/>
              </a:rPr>
              <a:t>13 / 13</a:t>
            </a:r>
            <a:endParaRPr lang="en-US" sz="1200" dirty="0"/>
          </a:p>
        </p:txBody>
      </p:sp>
    </p:spTree>
  </p:cSld>
  <p:clrMapOvr>
    <a:masterClrMapping/>
  </p:clrMapOvr>
</p:sld>
</file>

<file path=ppt/theme/theme1.xml><?xml version="1.0" encoding="utf-8"?>
<a:theme xmlns:a="http://schemas.openxmlformats.org/drawingml/2006/main" name="LENZ Games – Evaluación Parcial 2">
  <a:themeElements>
    <a:clrScheme name="LENZ Games – Evaluación Parcial 2">
      <a:dk1>
        <a:srgbClr val="0D1230"/>
      </a:dk1>
      <a:lt1>
        <a:srgbClr val="EEF2FF"/>
      </a:lt1>
      <a:dk2>
        <a:srgbClr val="242845"/>
      </a:dk2>
      <a:lt2>
        <a:srgbClr val="B6BACB"/>
      </a:lt2>
      <a:accent1>
        <a:srgbClr val="6F7AAE"/>
      </a:accent1>
      <a:accent2>
        <a:srgbClr val="3FE0EA"/>
      </a:accent2>
      <a:accent3>
        <a:srgbClr val="2B3672"/>
      </a:accent3>
      <a:accent4>
        <a:srgbClr val="B8C2E8"/>
      </a:accent4>
      <a:accent5>
        <a:srgbClr val="2E8A95"/>
      </a:accent5>
      <a:accent6>
        <a:srgbClr val="FF6FAE"/>
      </a:accent6>
      <a:hlink>
        <a:srgbClr val="0563C1"/>
      </a:hlink>
      <a:folHlink>
        <a:srgbClr val="954F72"/>
      </a:folHlink>
    </a:clrScheme>
    <a:fontScheme name="LENZ Games – Evaluación Parcial 2">
      <a:majorFont>
        <a:latin typeface="Chakra Petch"/>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hakra Petch"/>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13</Slides>
  <Notes>13</Notes>
  <HiddenSlides>0</HiddenSlides>
  <MMClips>0</MMClip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LENZ Games – Evaluación Parcial 2</vt:lpstr>
      <vt:lpstr>Ningún juego se queda sin stock</vt:lpstr>
      <vt:lpstr>Sin control, la tienda pierde ventas y rastro</vt:lpstr>
      <vt:lpstr>14 tablas en tercera forma normal</vt:lpstr>
      <vt:lpstr>El catálogo queda siempre registrado</vt:lpstr>
      <vt:lpstr>Del cliente al stock en 7 pasos</vt:lpstr>
      <vt:lpstr>Corregir un error sin descuadrar</vt:lpstr>
      <vt:lpstr>El stock se vigila solo</vt:lpstr>
      <vt:lpstr>Todo el resumen en una sola llamada</vt:lpstr>
      <vt:lpstr>Así se registra una venta</vt:lpstr>
      <vt:lpstr>Así se sabe cuánto vende cada juego</vt:lpstr>
      <vt:lpstr>Así se corrige una venta mal hecha</vt:lpstr>
      <vt:lpstr>Así el stock avisa cuándo reponer</vt:lpstr>
      <vt:lpstr>Una tienda que se controla sola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LENZ Games – Evaluación Parcial 2</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Chakra Petch
Copyright 2018 The Chakra Petch Project Authors (https://github.com/m4rc1e/Chakra-Petch.git)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ENZO TRISTAN MORALES AGUILERA</cp:lastModifiedBy>
  <cp:revision>2</cp:revision>
  <dcterms:created xsi:type="dcterms:W3CDTF">2026-10-27T01:46:46Z</dcterms:created>
  <dcterms:modified xsi:type="dcterms:W3CDTF">2026-10-27T21:45:06Z</dcterms:modified>
</cp:coreProperties>
</file>